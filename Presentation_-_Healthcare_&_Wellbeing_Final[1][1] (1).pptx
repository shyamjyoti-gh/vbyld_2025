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49" r:id="rId1"/>
  </p:sldMasterIdLst>
  <p:notesMasterIdLst>
    <p:notesMasterId r:id="rId9"/>
  </p:notesMasterIdLst>
  <p:sldIdLst>
    <p:sldId id="257" r:id="rId2"/>
    <p:sldId id="258" r:id="rId3"/>
    <p:sldId id="262" r:id="rId4"/>
    <p:sldId id="264" r:id="rId5"/>
    <p:sldId id="265" r:id="rId6"/>
    <p:sldId id="266" r:id="rId7"/>
    <p:sldId id="267" r:id="rId8"/>
  </p:sldIdLst>
  <p:sldSz cx="18288000" cy="10287000"/>
  <p:notesSz cx="6858000" cy="9144000"/>
  <p:embeddedFontLst>
    <p:embeddedFont>
      <p:font typeface="Arial Black" panose="020B0A04020102020204" pitchFamily="34" charset="0"/>
      <p:bold r:id="rId10"/>
    </p:embeddedFont>
    <p:embeddedFont>
      <p:font typeface="Telegraf Bold" panose="020B0604020202020204" charset="0"/>
      <p:regular r:id="rId11"/>
    </p:embeddedFont>
    <p:embeddedFont>
      <p:font typeface="Times New Roman Bold" panose="02020803070505020304" pitchFamily="18" charset="0"/>
      <p:regular r:id="rId12"/>
      <p:bold r:id="rId13"/>
    </p:embeddedFont>
    <p:embeddedFont>
      <p:font typeface="Times New Roman Italic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8B52B8-7C82-4574-911E-8CEB62C95157}" v="1" dt="2025-11-28T17:08:28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yamjyoti sarkar" userId="08513764639b00d2" providerId="LiveId" clId="{2FBAD5D5-5E53-4A7A-BC3A-67B26377F7EA}"/>
    <pc:docChg chg="modSld">
      <pc:chgData name="shyamjyoti sarkar" userId="08513764639b00d2" providerId="LiveId" clId="{2FBAD5D5-5E53-4A7A-BC3A-67B26377F7EA}" dt="2025-11-28T18:09:30.993" v="58" actId="2711"/>
      <pc:docMkLst>
        <pc:docMk/>
      </pc:docMkLst>
      <pc:sldChg chg="modSp mod">
        <pc:chgData name="shyamjyoti sarkar" userId="08513764639b00d2" providerId="LiveId" clId="{2FBAD5D5-5E53-4A7A-BC3A-67B26377F7EA}" dt="2025-11-28T18:09:30.993" v="58" actId="2711"/>
        <pc:sldMkLst>
          <pc:docMk/>
          <pc:sldMk cId="0" sldId="257"/>
        </pc:sldMkLst>
        <pc:spChg chg="mod">
          <ac:chgData name="shyamjyoti sarkar" userId="08513764639b00d2" providerId="LiveId" clId="{2FBAD5D5-5E53-4A7A-BC3A-67B26377F7EA}" dt="2025-11-28T18:09:30.993" v="58" actId="2711"/>
          <ac:spMkLst>
            <pc:docMk/>
            <pc:sldMk cId="0" sldId="257"/>
            <ac:spMk id="51" creationId="{60088BD6-4B62-224E-772C-A28619CA2E09}"/>
          </ac:spMkLst>
        </pc:spChg>
      </pc:sldChg>
      <pc:sldChg chg="modSp mod">
        <pc:chgData name="shyamjyoti sarkar" userId="08513764639b00d2" providerId="LiveId" clId="{2FBAD5D5-5E53-4A7A-BC3A-67B26377F7EA}" dt="2025-11-28T18:08:31.852" v="38" actId="20577"/>
        <pc:sldMkLst>
          <pc:docMk/>
          <pc:sldMk cId="3043250820" sldId="267"/>
        </pc:sldMkLst>
        <pc:spChg chg="mod">
          <ac:chgData name="shyamjyoti sarkar" userId="08513764639b00d2" providerId="LiveId" clId="{2FBAD5D5-5E53-4A7A-BC3A-67B26377F7EA}" dt="2025-11-28T18:08:31.852" v="38" actId="20577"/>
          <ac:spMkLst>
            <pc:docMk/>
            <pc:sldMk cId="3043250820" sldId="267"/>
            <ac:spMk id="19" creationId="{047B5F08-60DA-337B-B876-E4B74AAA28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67AFA-13E0-468D-A477-B75864571F1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07065-EAB6-4D84-80EF-A624D6294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96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3239-CBBD-BBAF-42B1-799D1C095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59AE2-37EF-1956-64BB-859B257A3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7326E-A551-F53F-BA08-95408E4C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8C27A-D546-8E1D-3EEA-9E162763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4FE5A-DFDF-4798-DBEC-FC782D81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4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0DFF-B167-0657-5AC3-80528DD9A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46F45-834F-AE43-C1B9-1D9C15FF8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5034A-9254-61CB-2938-709E980B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EE835-D58E-8B7C-0638-4AF52E3D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77A63-C4D5-B8A0-2D01-CA0CFAA5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6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498C-7734-E148-7B09-F4A1EC79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C6EFD-7ECC-7C84-3891-172D2A4AC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6458D-AFE4-CA7C-5073-C83A4A06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05CBC-0E29-E856-3E82-46B31C73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4764A-41C7-2F1B-FF32-1EFFF0E6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93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CC63-99F9-F675-2535-C3A8F118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7B7DF-5198-E4C9-69FF-DA3CEE12E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AF6FA-E581-011C-BBA2-9F668570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F28DC-4E5B-F01E-D094-6D04C5C7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F244-F123-6640-CCA9-EBA9EF12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F0BBD-AD51-FE9C-C8C0-DC4FC09D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0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D833-9F18-9873-AFEA-267BD7016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59956-FFD0-63EC-C978-353A0D8FF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CFA7B-FF2D-6736-B31B-621A275B3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67E8C-6C20-4048-C867-384639FC3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297A4-D572-7E08-CEE4-8CA142F8C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E9A59-5256-567B-5D91-8C404AA7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1103B-5961-CBA5-3E9A-B923C5E5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6BA61-D233-FFE9-5719-E7CE2195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2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7986-540D-70E3-E6FC-9E8C67E0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839C8-0240-F68F-143A-E187A0D8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0BED9-69CC-E22B-B877-2A4CAADF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D8197-7F6F-C188-0BF0-026D1216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5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0CC37-20B4-189C-AE8D-FC970A88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A2522-8E80-46CF-0EC0-F9701796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EE8BA-B7E3-AC82-7D84-861453AD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9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2799-8064-6C05-C37C-776F3A64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AC24-B03D-741C-D280-50A979E90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259E5-2F85-4BC9-5501-6B8B06159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F4957-7771-6084-E078-4C9D815D3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71D77-C48A-5B9E-DFA2-FF41834E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6A4CA-4A82-FB48-15F0-31A228A9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7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08D-7534-143A-0097-9905BC42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87EAAC-A09A-F468-D1FD-9CFDABCB2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C3EDA-C6D1-6BDD-8AE1-99F11DC3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32AC2-FB4F-99C8-07F8-B35B111C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FF734-83CB-6C69-0164-3F68A21E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C1FC4-BE83-354B-7940-A90564A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D5FA2-2288-2E93-7B58-A414F604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18714-D55F-FC9B-B7EF-6216DDD23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4396B-B1ED-83DA-6485-179AC6D6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1878B-A5A5-04C4-379A-B0208064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9DEAF-D286-ECE8-7B22-EC609B19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0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A0701-5F87-F766-CA4E-C1522A4B2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9BA63-88CB-1D7C-9CFB-3BF4114C6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455FC-4069-E052-9D89-DA33ADB9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114EF-D4AE-4DC2-5242-FC32DF12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D712A-71E5-06A5-17F2-21D55ABB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6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C5CA1-A39E-C987-1A37-B6BD2003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2266-807F-7450-51E8-74D3B8886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92CA-8346-CF17-8B1C-AB16F795B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5C463-33E7-FA83-A87F-13F784316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0FE2-076A-B12A-49B2-9FF5FD370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5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yamjyoti-GH/VBYLD_2025" TargetMode="External"/><Relationship Id="rId2" Type="http://schemas.openxmlformats.org/officeDocument/2006/relationships/hyperlink" Target="https://xlr8-ai-based-recmd.web.app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ov.in/" TargetMode="External"/><Relationship Id="rId7" Type="http://schemas.openxmlformats.org/officeDocument/2006/relationships/hyperlink" Target="https://ai.meta.com/llama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himsical.com/" TargetMode="External"/><Relationship Id="rId5" Type="http://schemas.openxmlformats.org/officeDocument/2006/relationships/hyperlink" Target="https://research.google/teams/language" TargetMode="External"/><Relationship Id="rId4" Type="http://schemas.openxmlformats.org/officeDocument/2006/relationships/hyperlink" Target="https://www.myscheme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14337" y="1873129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553201" y="685615"/>
            <a:ext cx="97536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Introduction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22610" y="969978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3561" y="9208771"/>
            <a:ext cx="16919964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latin typeface="Telegraf Bold"/>
                <a:ea typeface="Telegraf Bold"/>
                <a:cs typeface="Telegraf Bold"/>
                <a:sym typeface="Telegraf Bold"/>
              </a:rPr>
              <a:t>Empowering every citizen with clarity, access and confidence.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8243" y="2164310"/>
            <a:ext cx="1623060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5"/>
              </a:lnSpc>
              <a:spcBef>
                <a:spcPct val="0"/>
              </a:spcBef>
            </a:pPr>
            <a:r>
              <a:rPr lang="en-US" sz="2841" b="1" spc="-28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Connecting Every Citizen to the Right Government Scheme – Instinctively, Instantly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19223" y="114300"/>
            <a:ext cx="17568628" cy="9950713"/>
            <a:chOff x="0" y="0"/>
            <a:chExt cx="23526377" cy="130392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526395" cy="13039207"/>
            </a:xfrm>
            <a:custGeom>
              <a:avLst/>
              <a:gdLst/>
              <a:ahLst/>
              <a:cxnLst/>
              <a:rect l="l" t="t" r="r" b="b"/>
              <a:pathLst>
                <a:path w="23526395" h="13039207">
                  <a:moveTo>
                    <a:pt x="50293" y="0"/>
                  </a:moveTo>
                  <a:lnTo>
                    <a:pt x="23476102" y="0"/>
                  </a:lnTo>
                  <a:cubicBezTo>
                    <a:pt x="23503888" y="0"/>
                    <a:pt x="23526395" y="23636"/>
                    <a:pt x="23526395" y="52817"/>
                  </a:cubicBezTo>
                  <a:lnTo>
                    <a:pt x="23526395" y="12986390"/>
                  </a:lnTo>
                  <a:cubicBezTo>
                    <a:pt x="23526395" y="13015573"/>
                    <a:pt x="23503888" y="13039207"/>
                    <a:pt x="23476102" y="13039207"/>
                  </a:cubicBezTo>
                  <a:lnTo>
                    <a:pt x="50293" y="13039207"/>
                  </a:lnTo>
                  <a:cubicBezTo>
                    <a:pt x="22506" y="13039207"/>
                    <a:pt x="0" y="13015573"/>
                    <a:pt x="0" y="12986390"/>
                  </a:cubicBezTo>
                  <a:lnTo>
                    <a:pt x="0" y="52817"/>
                  </a:lnTo>
                  <a:cubicBezTo>
                    <a:pt x="0" y="23636"/>
                    <a:pt x="22506" y="0"/>
                    <a:pt x="50293" y="0"/>
                  </a:cubicBezTo>
                  <a:moveTo>
                    <a:pt x="50293" y="105634"/>
                  </a:moveTo>
                  <a:lnTo>
                    <a:pt x="50293" y="52817"/>
                  </a:lnTo>
                  <a:lnTo>
                    <a:pt x="100586" y="52817"/>
                  </a:lnTo>
                  <a:lnTo>
                    <a:pt x="100586" y="12986390"/>
                  </a:lnTo>
                  <a:lnTo>
                    <a:pt x="50293" y="12986390"/>
                  </a:lnTo>
                  <a:lnTo>
                    <a:pt x="50293" y="12933573"/>
                  </a:lnTo>
                  <a:lnTo>
                    <a:pt x="23476102" y="12933573"/>
                  </a:lnTo>
                  <a:lnTo>
                    <a:pt x="23476102" y="12986390"/>
                  </a:lnTo>
                  <a:lnTo>
                    <a:pt x="23425809" y="12986390"/>
                  </a:lnTo>
                  <a:lnTo>
                    <a:pt x="23425809" y="52817"/>
                  </a:lnTo>
                  <a:lnTo>
                    <a:pt x="23476102" y="52817"/>
                  </a:lnTo>
                  <a:lnTo>
                    <a:pt x="23476102" y="105634"/>
                  </a:lnTo>
                  <a:lnTo>
                    <a:pt x="50293" y="105634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294591F1-B5A4-C126-57AB-5A2943CB9B69}"/>
              </a:ext>
            </a:extLst>
          </p:cNvPr>
          <p:cNvSpPr/>
          <p:nvPr/>
        </p:nvSpPr>
        <p:spPr>
          <a:xfrm>
            <a:off x="673106" y="345148"/>
            <a:ext cx="2464061" cy="13925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dirty="0"/>
              <a:t>XLR8</a:t>
            </a:r>
          </a:p>
        </p:txBody>
      </p:sp>
      <p:grpSp>
        <p:nvGrpSpPr>
          <p:cNvPr id="42" name="Group 3">
            <a:extLst>
              <a:ext uri="{FF2B5EF4-FFF2-40B4-BE49-F238E27FC236}">
                <a16:creationId xmlns:a16="http://schemas.microsoft.com/office/drawing/2014/main" id="{9B8F74D6-403F-7A58-4FEF-7AA88F1C5244}"/>
              </a:ext>
            </a:extLst>
          </p:cNvPr>
          <p:cNvGrpSpPr>
            <a:grpSpLocks noChangeAspect="1"/>
          </p:cNvGrpSpPr>
          <p:nvPr/>
        </p:nvGrpSpPr>
        <p:grpSpPr>
          <a:xfrm>
            <a:off x="14785384" y="376846"/>
            <a:ext cx="2737226" cy="1403794"/>
            <a:chOff x="0" y="0"/>
            <a:chExt cx="3649634" cy="1871726"/>
          </a:xfrm>
        </p:grpSpPr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029F4A8B-61E2-32C5-6C27-063A10334D5E}"/>
                </a:ext>
              </a:extLst>
            </p:cNvPr>
            <p:cNvSpPr/>
            <p:nvPr/>
          </p:nvSpPr>
          <p:spPr>
            <a:xfrm>
              <a:off x="0" y="0"/>
              <a:ext cx="3649599" cy="1871726"/>
            </a:xfrm>
            <a:custGeom>
              <a:avLst/>
              <a:gdLst/>
              <a:ahLst/>
              <a:cxnLst/>
              <a:rect l="l" t="t" r="r" b="b"/>
              <a:pathLst>
                <a:path w="3649599" h="1871726">
                  <a:moveTo>
                    <a:pt x="0" y="0"/>
                  </a:moveTo>
                  <a:lnTo>
                    <a:pt x="3649599" y="0"/>
                  </a:lnTo>
                  <a:lnTo>
                    <a:pt x="3649599" y="1871726"/>
                  </a:lnTo>
                  <a:lnTo>
                    <a:pt x="0" y="1871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0" r="-9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" name="Picture 1" descr="A logo of a hand and a circuit board&#10;&#10;AI-generated content may be incorrect.">
            <a:extLst>
              <a:ext uri="{FF2B5EF4-FFF2-40B4-BE49-F238E27FC236}">
                <a16:creationId xmlns:a16="http://schemas.microsoft.com/office/drawing/2014/main" id="{88578849-E671-CB38-6D66-06C586D38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9029" y="885279"/>
            <a:ext cx="8663772" cy="866377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FFD63E3-C6D9-4834-6831-D3AA0C4DA0AE}"/>
              </a:ext>
            </a:extLst>
          </p:cNvPr>
          <p:cNvSpPr txBox="1"/>
          <p:nvPr/>
        </p:nvSpPr>
        <p:spPr>
          <a:xfrm>
            <a:off x="4949754" y="3246757"/>
            <a:ext cx="12879116" cy="871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3216"/>
              </a:lnSpc>
              <a:buFont typeface="Arial" panose="020B0604020202020204" pitchFamily="34" charset="0"/>
              <a:buChar char="•"/>
            </a:pPr>
            <a:r>
              <a:rPr lang="en-US" sz="2800" b="1" spc="-29" dirty="0">
                <a:solidFill>
                  <a:srgbClr val="1A73E8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 :- Bridge between citizen and government schemes</a:t>
            </a:r>
          </a:p>
          <a:p>
            <a:pPr marL="285750" lvl="0" indent="-285750">
              <a:lnSpc>
                <a:spcPts val="3216"/>
              </a:lnSpc>
              <a:buFont typeface="Arial" panose="020B0604020202020204" pitchFamily="34" charset="0"/>
              <a:buChar char="•"/>
            </a:pPr>
            <a:endParaRPr lang="en-US" sz="1800" b="1" spc="-29" dirty="0">
              <a:solidFill>
                <a:srgbClr val="1A73E8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174C30-7912-E12B-CE3D-85B1A64F234C}"/>
              </a:ext>
            </a:extLst>
          </p:cNvPr>
          <p:cNvSpPr txBox="1"/>
          <p:nvPr/>
        </p:nvSpPr>
        <p:spPr>
          <a:xfrm>
            <a:off x="4949754" y="4179825"/>
            <a:ext cx="98298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3216"/>
              </a:lnSpc>
              <a:buFont typeface="Arial" panose="020B0604020202020204" pitchFamily="34" charset="0"/>
              <a:buChar char="•"/>
            </a:pPr>
            <a:r>
              <a:rPr lang="en-US" sz="2800" b="1" spc="-29" dirty="0">
                <a:solidFill>
                  <a:srgbClr val="1A73E8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Theme :- Civic Technology &amp; Governance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A45A77-A5DA-B0F1-D180-EF752BDD9F3B}"/>
              </a:ext>
            </a:extLst>
          </p:cNvPr>
          <p:cNvSpPr txBox="1"/>
          <p:nvPr/>
        </p:nvSpPr>
        <p:spPr>
          <a:xfrm>
            <a:off x="4968290" y="5001268"/>
            <a:ext cx="98298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3216"/>
              </a:lnSpc>
              <a:buFont typeface="Arial" panose="020B0604020202020204" pitchFamily="34" charset="0"/>
              <a:buChar char="•"/>
            </a:pPr>
            <a:r>
              <a:rPr lang="en-US" sz="2800" b="1" spc="-29" dirty="0">
                <a:solidFill>
                  <a:srgbClr val="1A73E8"/>
                </a:solidFill>
                <a:latin typeface="Telegraf Bold"/>
                <a:ea typeface="Telegraf Bold"/>
                <a:cs typeface="Telegraf Bold"/>
                <a:sym typeface="Telegraf Bold"/>
              </a:rPr>
              <a:t>Team Name :- XLR8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088BD6-4B62-224E-772C-A28619CA2E09}"/>
              </a:ext>
            </a:extLst>
          </p:cNvPr>
          <p:cNvSpPr txBox="1"/>
          <p:nvPr/>
        </p:nvSpPr>
        <p:spPr>
          <a:xfrm>
            <a:off x="4968290" y="5384338"/>
            <a:ext cx="98298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3216"/>
              </a:lnSpc>
            </a:pPr>
            <a:endParaRPr lang="en-US" sz="1800" b="1" spc="-29" dirty="0">
              <a:solidFill>
                <a:srgbClr val="1A73E8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285750" lvl="0" indent="-285750">
              <a:lnSpc>
                <a:spcPts val="3216"/>
              </a:lnSpc>
              <a:buFont typeface="Arial" panose="020B0604020202020204" pitchFamily="34" charset="0"/>
              <a:buChar char="•"/>
            </a:pPr>
            <a:r>
              <a:rPr lang="en-US" sz="2800" b="1" spc="-29" dirty="0">
                <a:solidFill>
                  <a:srgbClr val="1A73E8"/>
                </a:solidFill>
                <a:latin typeface="Telegraf Bold"/>
                <a:ea typeface="Telegraf Bold"/>
                <a:cs typeface="Telegraf Bold"/>
                <a:sym typeface="Telegraf Bold"/>
              </a:rPr>
              <a:t>Team ID :- </a:t>
            </a:r>
            <a:r>
              <a:rPr lang="en-US" sz="2800" b="1" spc="-29" dirty="0">
                <a:solidFill>
                  <a:srgbClr val="1A73E8"/>
                </a:solidFill>
                <a:ea typeface="Telegraf Bold"/>
                <a:cs typeface="Telegraf Bold"/>
                <a:sym typeface="Telegraf Bold"/>
              </a:rPr>
              <a:t>HSC|AR|288863245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1BEE5D-65F0-6F75-C85D-F8E916E82BD5}"/>
              </a:ext>
            </a:extLst>
          </p:cNvPr>
          <p:cNvSpPr txBox="1"/>
          <p:nvPr/>
        </p:nvSpPr>
        <p:spPr>
          <a:xfrm>
            <a:off x="4949754" y="6606211"/>
            <a:ext cx="1034791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3216"/>
              </a:lnSpc>
              <a:buFont typeface="Arial" panose="020B0604020202020204" pitchFamily="34" charset="0"/>
              <a:buChar char="•"/>
            </a:pPr>
            <a:r>
              <a:rPr lang="en-US" sz="2800" b="1" spc="-29" dirty="0">
                <a:solidFill>
                  <a:srgbClr val="1A73E8"/>
                </a:solidFill>
                <a:latin typeface="Telegraf Bold"/>
                <a:ea typeface="Telegraf Bold"/>
                <a:cs typeface="Telegraf Bold"/>
                <a:sym typeface="Telegraf Bold"/>
              </a:rPr>
              <a:t>Institution :- North Eastern Regional Institute of Science 		         and Technology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3FF14A-EDEF-DFCB-3EA4-001075EE77D6}"/>
              </a:ext>
            </a:extLst>
          </p:cNvPr>
          <p:cNvSpPr txBox="1"/>
          <p:nvPr/>
        </p:nvSpPr>
        <p:spPr>
          <a:xfrm>
            <a:off x="4968290" y="7681493"/>
            <a:ext cx="9829800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3216"/>
              </a:lnSpc>
              <a:buFont typeface="Arial" panose="020B0604020202020204" pitchFamily="34" charset="0"/>
              <a:buChar char="•"/>
            </a:pPr>
            <a:r>
              <a:rPr lang="en-US" sz="2800" b="1" spc="-29" dirty="0">
                <a:solidFill>
                  <a:srgbClr val="1A73E8"/>
                </a:solidFill>
                <a:latin typeface="Telegraf Bold"/>
                <a:ea typeface="Telegraf Bold"/>
                <a:cs typeface="Telegraf Bold"/>
                <a:sym typeface="Telegraf Bold"/>
              </a:rPr>
              <a:t>State :- Arunachal Pradesh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14337" y="1873129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601934" y="708570"/>
            <a:ext cx="8037866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8587" y="2061101"/>
            <a:ext cx="820021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/>
              <a:t>Core Problem / Proposed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8587" y="2515509"/>
            <a:ext cx="16671875" cy="935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300" b="1" dirty="0"/>
              <a:t>Problem:</a:t>
            </a:r>
            <a:r>
              <a:rPr lang="en-US" sz="2300" dirty="0"/>
              <a:t> Citizens can’t easily find or apply for the right government schemes.</a:t>
            </a:r>
            <a:br>
              <a:rPr lang="en-US" sz="2300" dirty="0"/>
            </a:br>
            <a:r>
              <a:rPr lang="en-US" sz="2300" b="1" dirty="0"/>
              <a:t>Solution:</a:t>
            </a:r>
            <a:r>
              <a:rPr lang="en-US" sz="2300" dirty="0"/>
              <a:t> An AI + vernacular voice app that identifies eligible schemes and guides users through the entire application process.</a:t>
            </a:r>
            <a:endParaRPr lang="en-US" sz="2300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25924" y="3513071"/>
            <a:ext cx="10653361" cy="581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US" sz="3200" b="1" dirty="0"/>
              <a:t>Detailed Explanation of the Solution</a:t>
            </a:r>
            <a:endParaRPr lang="en-US" sz="3200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8587" y="4156562"/>
            <a:ext cx="9858375" cy="1061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300" dirty="0"/>
              <a:t>AI-powered scheme recommendations based on user profile.</a:t>
            </a:r>
            <a:br>
              <a:rPr lang="en-US" sz="2300" dirty="0"/>
            </a:br>
            <a:r>
              <a:rPr lang="en-US" sz="2300" dirty="0"/>
              <a:t>Vernacular voice search for easy access.</a:t>
            </a:r>
            <a:br>
              <a:rPr lang="en-US" sz="2300" dirty="0"/>
            </a:br>
            <a:r>
              <a:rPr lang="en-US" sz="2300" dirty="0"/>
              <a:t>Step-by-step assistance for application and tracking.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932" y="5207185"/>
            <a:ext cx="8943975" cy="581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US" sz="3200" b="1" dirty="0"/>
              <a:t>How It Addresses the Problem</a:t>
            </a:r>
            <a:endParaRPr lang="en-US" sz="3200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55933" y="7155180"/>
            <a:ext cx="7724775" cy="581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3200" b="1" dirty="0"/>
              <a:t>Innovation &amp; Uniqueness</a:t>
            </a:r>
            <a:endParaRPr lang="en-US" sz="3200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48587" y="5693239"/>
            <a:ext cx="9647241" cy="1422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400" dirty="0"/>
              <a:t>Removes language and digital barriers.</a:t>
            </a:r>
            <a:br>
              <a:rPr lang="en-US" sz="2400" dirty="0"/>
            </a:br>
            <a:r>
              <a:rPr lang="en-US" sz="2400" dirty="0"/>
              <a:t>Simplifies discovery and eligibility.</a:t>
            </a:r>
            <a:br>
              <a:rPr lang="en-US" sz="2400" dirty="0"/>
            </a:br>
            <a:r>
              <a:rPr lang="en-US" sz="2400" dirty="0"/>
              <a:t>Provides complete guidance, increasing scheme adoption.</a:t>
            </a:r>
            <a:endParaRPr lang="en-US" sz="2399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11932" y="7770262"/>
            <a:ext cx="9397670" cy="935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300" dirty="0"/>
              <a:t>AI + voice + governance in one platform.</a:t>
            </a:r>
            <a:br>
              <a:rPr lang="en-US" sz="2300" dirty="0"/>
            </a:br>
            <a:r>
              <a:rPr lang="en-US" sz="2300" dirty="0"/>
              <a:t>Personalized recommendations with end-to-end support.</a:t>
            </a:r>
            <a:endParaRPr lang="en-US" sz="2300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304633" y="197553"/>
            <a:ext cx="17615816" cy="9863034"/>
            <a:chOff x="0" y="0"/>
            <a:chExt cx="23589567" cy="132077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589585" cy="13207715"/>
            </a:xfrm>
            <a:custGeom>
              <a:avLst/>
              <a:gdLst/>
              <a:ahLst/>
              <a:cxnLst/>
              <a:rect l="l" t="t" r="r" b="b"/>
              <a:pathLst>
                <a:path w="23589585" h="13207715">
                  <a:moveTo>
                    <a:pt x="50428" y="0"/>
                  </a:moveTo>
                  <a:lnTo>
                    <a:pt x="23539157" y="0"/>
                  </a:lnTo>
                  <a:cubicBezTo>
                    <a:pt x="23567017" y="0"/>
                    <a:pt x="23589585" y="23941"/>
                    <a:pt x="23589585" y="53500"/>
                  </a:cubicBezTo>
                  <a:lnTo>
                    <a:pt x="23589585" y="13154216"/>
                  </a:lnTo>
                  <a:cubicBezTo>
                    <a:pt x="23589585" y="13183774"/>
                    <a:pt x="23567017" y="13207715"/>
                    <a:pt x="23539157" y="13207715"/>
                  </a:cubicBezTo>
                  <a:lnTo>
                    <a:pt x="50428" y="13207715"/>
                  </a:lnTo>
                  <a:cubicBezTo>
                    <a:pt x="22567" y="13207715"/>
                    <a:pt x="0" y="13183774"/>
                    <a:pt x="0" y="13154216"/>
                  </a:cubicBezTo>
                  <a:lnTo>
                    <a:pt x="0" y="53500"/>
                  </a:lnTo>
                  <a:cubicBezTo>
                    <a:pt x="0" y="23941"/>
                    <a:pt x="22567" y="0"/>
                    <a:pt x="50428" y="0"/>
                  </a:cubicBezTo>
                  <a:moveTo>
                    <a:pt x="50428" y="106999"/>
                  </a:moveTo>
                  <a:lnTo>
                    <a:pt x="50428" y="53500"/>
                  </a:lnTo>
                  <a:lnTo>
                    <a:pt x="100857" y="53500"/>
                  </a:lnTo>
                  <a:lnTo>
                    <a:pt x="100857" y="13154216"/>
                  </a:lnTo>
                  <a:lnTo>
                    <a:pt x="50428" y="13154216"/>
                  </a:lnTo>
                  <a:lnTo>
                    <a:pt x="50428" y="13100715"/>
                  </a:lnTo>
                  <a:lnTo>
                    <a:pt x="23539157" y="13100715"/>
                  </a:lnTo>
                  <a:lnTo>
                    <a:pt x="23539157" y="13154216"/>
                  </a:lnTo>
                  <a:lnTo>
                    <a:pt x="23488729" y="13154216"/>
                  </a:lnTo>
                  <a:lnTo>
                    <a:pt x="23488729" y="53500"/>
                  </a:lnTo>
                  <a:lnTo>
                    <a:pt x="23539157" y="53500"/>
                  </a:lnTo>
                  <a:lnTo>
                    <a:pt x="23539157" y="106999"/>
                  </a:lnTo>
                  <a:lnTo>
                    <a:pt x="50428" y="106999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7">
            <a:extLst>
              <a:ext uri="{FF2B5EF4-FFF2-40B4-BE49-F238E27FC236}">
                <a16:creationId xmlns:a16="http://schemas.microsoft.com/office/drawing/2014/main" id="{EF31C9EE-F160-4F13-597E-C029B5F4CDB8}"/>
              </a:ext>
            </a:extLst>
          </p:cNvPr>
          <p:cNvGrpSpPr/>
          <p:nvPr/>
        </p:nvGrpSpPr>
        <p:grpSpPr>
          <a:xfrm>
            <a:off x="686408" y="2150336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C337AD32-8B6E-18E1-2659-26FCAA1ADB9C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4EA8197F-0153-6BA5-2359-568B04731943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Freeform 8">
            <a:extLst>
              <a:ext uri="{FF2B5EF4-FFF2-40B4-BE49-F238E27FC236}">
                <a16:creationId xmlns:a16="http://schemas.microsoft.com/office/drawing/2014/main" id="{5DFF5E19-5079-C9BD-712F-A7FB567624D6}"/>
              </a:ext>
            </a:extLst>
          </p:cNvPr>
          <p:cNvSpPr/>
          <p:nvPr/>
        </p:nvSpPr>
        <p:spPr>
          <a:xfrm>
            <a:off x="686407" y="3616173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B85380D6-33BD-D1F2-77F6-6848E2422F29}"/>
              </a:ext>
            </a:extLst>
          </p:cNvPr>
          <p:cNvSpPr/>
          <p:nvPr/>
        </p:nvSpPr>
        <p:spPr>
          <a:xfrm>
            <a:off x="686407" y="5302550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91CDA8C3-401F-4D9C-4A1A-B923B6004429}"/>
              </a:ext>
            </a:extLst>
          </p:cNvPr>
          <p:cNvSpPr/>
          <p:nvPr/>
        </p:nvSpPr>
        <p:spPr>
          <a:xfrm>
            <a:off x="686408" y="7233591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FC941319-7F6A-1E3D-CA07-28E79B0AFF24}"/>
              </a:ext>
            </a:extLst>
          </p:cNvPr>
          <p:cNvGrpSpPr>
            <a:grpSpLocks noChangeAspect="1"/>
          </p:cNvGrpSpPr>
          <p:nvPr/>
        </p:nvGrpSpPr>
        <p:grpSpPr>
          <a:xfrm>
            <a:off x="14785384" y="376846"/>
            <a:ext cx="2737226" cy="1403794"/>
            <a:chOff x="0" y="0"/>
            <a:chExt cx="3649634" cy="1871726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B86E96E6-7E83-00B1-A607-9EA191A7A29B}"/>
                </a:ext>
              </a:extLst>
            </p:cNvPr>
            <p:cNvSpPr/>
            <p:nvPr/>
          </p:nvSpPr>
          <p:spPr>
            <a:xfrm>
              <a:off x="0" y="0"/>
              <a:ext cx="3649599" cy="1871726"/>
            </a:xfrm>
            <a:custGeom>
              <a:avLst/>
              <a:gdLst/>
              <a:ahLst/>
              <a:cxnLst/>
              <a:rect l="l" t="t" r="r" b="b"/>
              <a:pathLst>
                <a:path w="3649599" h="1871726">
                  <a:moveTo>
                    <a:pt x="0" y="0"/>
                  </a:moveTo>
                  <a:lnTo>
                    <a:pt x="3649599" y="0"/>
                  </a:lnTo>
                  <a:lnTo>
                    <a:pt x="3649599" y="1871726"/>
                  </a:lnTo>
                  <a:lnTo>
                    <a:pt x="0" y="1871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0" r="-9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41D396C9-4515-99FB-DB25-0FA4951D84EA}"/>
              </a:ext>
            </a:extLst>
          </p:cNvPr>
          <p:cNvSpPr/>
          <p:nvPr/>
        </p:nvSpPr>
        <p:spPr>
          <a:xfrm>
            <a:off x="673106" y="345148"/>
            <a:ext cx="2464061" cy="13925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dirty="0"/>
              <a:t>XLR8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EEC04-B608-4E0F-D697-0225F99F2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802" y="3464900"/>
            <a:ext cx="7157438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048B9-1E09-E537-9640-A77C01D8F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701154C4-F6A5-DE54-D1A2-E4B93F28F215}"/>
              </a:ext>
            </a:extLst>
          </p:cNvPr>
          <p:cNvSpPr/>
          <p:nvPr/>
        </p:nvSpPr>
        <p:spPr>
          <a:xfrm flipV="1">
            <a:off x="729085" y="1593898"/>
            <a:ext cx="16797659" cy="4440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D171CF-0BFA-A4DE-1649-D725A5097028}"/>
              </a:ext>
            </a:extLst>
          </p:cNvPr>
          <p:cNvSpPr txBox="1"/>
          <p:nvPr/>
        </p:nvSpPr>
        <p:spPr>
          <a:xfrm>
            <a:off x="5795215" y="512251"/>
            <a:ext cx="8037866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FLOW - DIAGRAM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4B0F61B-D9BB-DFF9-509D-AFE9D173B2AE}"/>
              </a:ext>
            </a:extLst>
          </p:cNvPr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FC3837DC-3CFA-A83C-BCC7-A6D4FDC378D6}"/>
              </a:ext>
            </a:extLst>
          </p:cNvPr>
          <p:cNvGrpSpPr/>
          <p:nvPr/>
        </p:nvGrpSpPr>
        <p:grpSpPr>
          <a:xfrm>
            <a:off x="304633" y="197553"/>
            <a:ext cx="17615816" cy="9863034"/>
            <a:chOff x="0" y="0"/>
            <a:chExt cx="23589567" cy="1320771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04A0CBF-9FDD-9832-1ED3-3EB36BE1ABD5}"/>
                </a:ext>
              </a:extLst>
            </p:cNvPr>
            <p:cNvSpPr/>
            <p:nvPr/>
          </p:nvSpPr>
          <p:spPr>
            <a:xfrm>
              <a:off x="0" y="0"/>
              <a:ext cx="23589585" cy="13207715"/>
            </a:xfrm>
            <a:custGeom>
              <a:avLst/>
              <a:gdLst/>
              <a:ahLst/>
              <a:cxnLst/>
              <a:rect l="l" t="t" r="r" b="b"/>
              <a:pathLst>
                <a:path w="23589585" h="13207715">
                  <a:moveTo>
                    <a:pt x="50428" y="0"/>
                  </a:moveTo>
                  <a:lnTo>
                    <a:pt x="23539157" y="0"/>
                  </a:lnTo>
                  <a:cubicBezTo>
                    <a:pt x="23567017" y="0"/>
                    <a:pt x="23589585" y="23941"/>
                    <a:pt x="23589585" y="53500"/>
                  </a:cubicBezTo>
                  <a:lnTo>
                    <a:pt x="23589585" y="13154216"/>
                  </a:lnTo>
                  <a:cubicBezTo>
                    <a:pt x="23589585" y="13183774"/>
                    <a:pt x="23567017" y="13207715"/>
                    <a:pt x="23539157" y="13207715"/>
                  </a:cubicBezTo>
                  <a:lnTo>
                    <a:pt x="50428" y="13207715"/>
                  </a:lnTo>
                  <a:cubicBezTo>
                    <a:pt x="22567" y="13207715"/>
                    <a:pt x="0" y="13183774"/>
                    <a:pt x="0" y="13154216"/>
                  </a:cubicBezTo>
                  <a:lnTo>
                    <a:pt x="0" y="53500"/>
                  </a:lnTo>
                  <a:cubicBezTo>
                    <a:pt x="0" y="23941"/>
                    <a:pt x="22567" y="0"/>
                    <a:pt x="50428" y="0"/>
                  </a:cubicBezTo>
                  <a:moveTo>
                    <a:pt x="50428" y="106999"/>
                  </a:moveTo>
                  <a:lnTo>
                    <a:pt x="50428" y="53500"/>
                  </a:lnTo>
                  <a:lnTo>
                    <a:pt x="100857" y="53500"/>
                  </a:lnTo>
                  <a:lnTo>
                    <a:pt x="100857" y="13154216"/>
                  </a:lnTo>
                  <a:lnTo>
                    <a:pt x="50428" y="13154216"/>
                  </a:lnTo>
                  <a:lnTo>
                    <a:pt x="50428" y="13100715"/>
                  </a:lnTo>
                  <a:lnTo>
                    <a:pt x="23539157" y="13100715"/>
                  </a:lnTo>
                  <a:lnTo>
                    <a:pt x="23539157" y="13154216"/>
                  </a:lnTo>
                  <a:lnTo>
                    <a:pt x="23488729" y="13154216"/>
                  </a:lnTo>
                  <a:lnTo>
                    <a:pt x="23488729" y="53500"/>
                  </a:lnTo>
                  <a:lnTo>
                    <a:pt x="23539157" y="53500"/>
                  </a:lnTo>
                  <a:lnTo>
                    <a:pt x="23539157" y="106999"/>
                  </a:lnTo>
                  <a:lnTo>
                    <a:pt x="50428" y="106999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E61B734D-3571-D1A4-0445-CE838958F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77" y="1767870"/>
            <a:ext cx="11645023" cy="7237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B530CC-CCA3-FE5C-82AC-A798EC8F8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050" y="3199918"/>
            <a:ext cx="5519759" cy="580548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A93580C-82D7-332C-30E2-185868878E7B}"/>
              </a:ext>
            </a:extLst>
          </p:cNvPr>
          <p:cNvSpPr/>
          <p:nvPr/>
        </p:nvSpPr>
        <p:spPr>
          <a:xfrm>
            <a:off x="673107" y="345148"/>
            <a:ext cx="2374894" cy="111918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dirty="0"/>
              <a:t>XLR8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4FCAD13B-F448-B77D-5890-C65AF8D550E5}"/>
              </a:ext>
            </a:extLst>
          </p:cNvPr>
          <p:cNvGrpSpPr>
            <a:grpSpLocks noChangeAspect="1"/>
          </p:cNvGrpSpPr>
          <p:nvPr/>
        </p:nvGrpSpPr>
        <p:grpSpPr>
          <a:xfrm>
            <a:off x="14785384" y="376846"/>
            <a:ext cx="2737226" cy="1217052"/>
            <a:chOff x="0" y="0"/>
            <a:chExt cx="3649634" cy="1871726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8D773B7-7FB6-E461-F331-4088D98EC8C6}"/>
                </a:ext>
              </a:extLst>
            </p:cNvPr>
            <p:cNvSpPr/>
            <p:nvPr/>
          </p:nvSpPr>
          <p:spPr>
            <a:xfrm>
              <a:off x="0" y="0"/>
              <a:ext cx="3649599" cy="1871726"/>
            </a:xfrm>
            <a:custGeom>
              <a:avLst/>
              <a:gdLst/>
              <a:ahLst/>
              <a:cxnLst/>
              <a:rect l="l" t="t" r="r" b="b"/>
              <a:pathLst>
                <a:path w="3649599" h="1871726">
                  <a:moveTo>
                    <a:pt x="0" y="0"/>
                  </a:moveTo>
                  <a:lnTo>
                    <a:pt x="3649599" y="0"/>
                  </a:lnTo>
                  <a:lnTo>
                    <a:pt x="3649599" y="1871726"/>
                  </a:lnTo>
                  <a:lnTo>
                    <a:pt x="0" y="1871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0" r="-9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30081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CA38-3995-5B32-B99F-C9ED7089E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D837A668-455A-8576-8C1E-54B6E896F0EE}"/>
              </a:ext>
            </a:extLst>
          </p:cNvPr>
          <p:cNvSpPr/>
          <p:nvPr/>
        </p:nvSpPr>
        <p:spPr>
          <a:xfrm>
            <a:off x="693284" y="1813831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0349E02-FF0D-DD53-E5AF-484114CA9B34}"/>
              </a:ext>
            </a:extLst>
          </p:cNvPr>
          <p:cNvSpPr txBox="1"/>
          <p:nvPr/>
        </p:nvSpPr>
        <p:spPr>
          <a:xfrm>
            <a:off x="5340647" y="171418"/>
            <a:ext cx="754380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630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Technical Approach:   </a:t>
            </a:r>
          </a:p>
          <a:p>
            <a:pPr marL="0" lvl="0" indent="0" algn="l">
              <a:lnSpc>
                <a:spcPts val="6525"/>
              </a:lnSpc>
            </a:pPr>
            <a:r>
              <a:rPr lang="en-US" sz="5630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   System and Model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73FEC12-B7F3-1545-CD67-98FAD84DCD4C}"/>
              </a:ext>
            </a:extLst>
          </p:cNvPr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9A933FB-AB1C-5BB3-3A22-F970A711B72D}"/>
              </a:ext>
            </a:extLst>
          </p:cNvPr>
          <p:cNvSpPr txBox="1"/>
          <p:nvPr/>
        </p:nvSpPr>
        <p:spPr>
          <a:xfrm>
            <a:off x="1160967" y="1736946"/>
            <a:ext cx="4390213" cy="613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US" sz="3600" b="1" dirty="0" err="1">
                <a:solidFill>
                  <a:srgbClr val="272525"/>
                </a:solidFill>
                <a:cs typeface="Times New Roman Bold"/>
                <a:sym typeface="Times New Roman Bold"/>
              </a:rPr>
              <a:t>Te</a:t>
            </a:r>
            <a:r>
              <a:rPr lang="en-IN" sz="3600" b="1" dirty="0" err="1"/>
              <a:t>chnology</a:t>
            </a:r>
            <a:r>
              <a:rPr lang="en-IN" sz="3600" b="1" dirty="0"/>
              <a:t> Stack</a:t>
            </a:r>
            <a:endParaRPr lang="en-US" sz="3600" b="1" dirty="0">
              <a:solidFill>
                <a:srgbClr val="272525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011956B-EC91-545D-3755-F31D6A6C723A}"/>
              </a:ext>
            </a:extLst>
          </p:cNvPr>
          <p:cNvSpPr txBox="1"/>
          <p:nvPr/>
        </p:nvSpPr>
        <p:spPr>
          <a:xfrm>
            <a:off x="1193995" y="2227500"/>
            <a:ext cx="8573476" cy="1899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Frontend(</a:t>
            </a:r>
            <a:r>
              <a:rPr lang="en-US" sz="2399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Javascript,html,css</a:t>
            </a: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Backend (Node.js/Python microservice)</a:t>
            </a:r>
          </a:p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modules(NLU, ML matching) + PostgreSQL + Cloud infrastructure. 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727FD91-1303-6788-91D8-B1E5A6B22100}"/>
              </a:ext>
            </a:extLst>
          </p:cNvPr>
          <p:cNvSpPr txBox="1"/>
          <p:nvPr/>
        </p:nvSpPr>
        <p:spPr>
          <a:xfrm>
            <a:off x="1163041" y="4055992"/>
            <a:ext cx="71913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3600" b="1" dirty="0"/>
              <a:t>System Workflow</a:t>
            </a:r>
            <a:endParaRPr lang="en-US" sz="3600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C2A3ADC-1A4A-D457-8E6C-9CF021AD58FD}"/>
              </a:ext>
            </a:extLst>
          </p:cNvPr>
          <p:cNvSpPr txBox="1"/>
          <p:nvPr/>
        </p:nvSpPr>
        <p:spPr>
          <a:xfrm>
            <a:off x="1193995" y="4571615"/>
            <a:ext cx="7191376" cy="1899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Vernacular Voice – ASR – NLU – personalized scheme recommendations</a:t>
            </a:r>
          </a:p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application(auto-fill, docs)+ real-time tracking &amp; notifications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7FEA6C4-8738-04A7-167E-5A486083B75C}"/>
              </a:ext>
            </a:extLst>
          </p:cNvPr>
          <p:cNvSpPr txBox="1"/>
          <p:nvPr/>
        </p:nvSpPr>
        <p:spPr>
          <a:xfrm>
            <a:off x="1183348" y="6382766"/>
            <a:ext cx="8943975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600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 Methodology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A213697-B4FD-6835-E18A-39C3AAB0D017}"/>
              </a:ext>
            </a:extLst>
          </p:cNvPr>
          <p:cNvSpPr txBox="1"/>
          <p:nvPr/>
        </p:nvSpPr>
        <p:spPr>
          <a:xfrm>
            <a:off x="1156309" y="8273302"/>
            <a:ext cx="7724775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600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Deliverables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2F4A729-749C-C94B-1059-2D0984BA5670}"/>
              </a:ext>
            </a:extLst>
          </p:cNvPr>
          <p:cNvSpPr txBox="1"/>
          <p:nvPr/>
        </p:nvSpPr>
        <p:spPr>
          <a:xfrm>
            <a:off x="1193995" y="6847701"/>
            <a:ext cx="7779158" cy="1412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microservice architecture with secure REST APIs, CI automation</a:t>
            </a:r>
          </a:p>
          <a:p>
            <a:pPr algn="l">
              <a:lnSpc>
                <a:spcPts val="3799"/>
              </a:lnSpc>
            </a:pP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Monitoring, infra-as-code, and version-controlled development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A7133BC-A08B-047A-A785-8BC7E49AF6E5}"/>
              </a:ext>
            </a:extLst>
          </p:cNvPr>
          <p:cNvSpPr txBox="1"/>
          <p:nvPr/>
        </p:nvSpPr>
        <p:spPr>
          <a:xfrm>
            <a:off x="1160967" y="8711017"/>
            <a:ext cx="9397670" cy="924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399" b="1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</a:t>
            </a: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399" u="sng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https://xlr8-ai-based-recmd.web.app/</a:t>
            </a:r>
            <a:r>
              <a:rPr lang="en-US" sz="2399" u="sng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lnSpc>
                <a:spcPts val="3799"/>
              </a:lnSpc>
            </a:pPr>
            <a:r>
              <a:rPr lang="en-US" sz="2399" b="1" dirty="0" err="1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399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399" u="sng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https://github.com/Shyamjyoti-GH/VBYLD_2025</a:t>
            </a:r>
            <a:r>
              <a:rPr lang="en-US" sz="2399" u="sng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91EBA088-C6C5-79AC-A5E4-61CA03A484EF}"/>
              </a:ext>
            </a:extLst>
          </p:cNvPr>
          <p:cNvGrpSpPr/>
          <p:nvPr/>
        </p:nvGrpSpPr>
        <p:grpSpPr>
          <a:xfrm>
            <a:off x="304633" y="197553"/>
            <a:ext cx="17615816" cy="9863034"/>
            <a:chOff x="0" y="0"/>
            <a:chExt cx="23589567" cy="1320771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D306BC0-3723-471E-1906-C336C680B72B}"/>
                </a:ext>
              </a:extLst>
            </p:cNvPr>
            <p:cNvSpPr/>
            <p:nvPr/>
          </p:nvSpPr>
          <p:spPr>
            <a:xfrm>
              <a:off x="0" y="0"/>
              <a:ext cx="23589585" cy="13207715"/>
            </a:xfrm>
            <a:custGeom>
              <a:avLst/>
              <a:gdLst/>
              <a:ahLst/>
              <a:cxnLst/>
              <a:rect l="l" t="t" r="r" b="b"/>
              <a:pathLst>
                <a:path w="23589585" h="13207715">
                  <a:moveTo>
                    <a:pt x="50428" y="0"/>
                  </a:moveTo>
                  <a:lnTo>
                    <a:pt x="23539157" y="0"/>
                  </a:lnTo>
                  <a:cubicBezTo>
                    <a:pt x="23567017" y="0"/>
                    <a:pt x="23589585" y="23941"/>
                    <a:pt x="23589585" y="53500"/>
                  </a:cubicBezTo>
                  <a:lnTo>
                    <a:pt x="23589585" y="13154216"/>
                  </a:lnTo>
                  <a:cubicBezTo>
                    <a:pt x="23589585" y="13183774"/>
                    <a:pt x="23567017" y="13207715"/>
                    <a:pt x="23539157" y="13207715"/>
                  </a:cubicBezTo>
                  <a:lnTo>
                    <a:pt x="50428" y="13207715"/>
                  </a:lnTo>
                  <a:cubicBezTo>
                    <a:pt x="22567" y="13207715"/>
                    <a:pt x="0" y="13183774"/>
                    <a:pt x="0" y="13154216"/>
                  </a:cubicBezTo>
                  <a:lnTo>
                    <a:pt x="0" y="53500"/>
                  </a:lnTo>
                  <a:cubicBezTo>
                    <a:pt x="0" y="23941"/>
                    <a:pt x="22567" y="0"/>
                    <a:pt x="50428" y="0"/>
                  </a:cubicBezTo>
                  <a:moveTo>
                    <a:pt x="50428" y="106999"/>
                  </a:moveTo>
                  <a:lnTo>
                    <a:pt x="50428" y="53500"/>
                  </a:lnTo>
                  <a:lnTo>
                    <a:pt x="100857" y="53500"/>
                  </a:lnTo>
                  <a:lnTo>
                    <a:pt x="100857" y="13154216"/>
                  </a:lnTo>
                  <a:lnTo>
                    <a:pt x="50428" y="13154216"/>
                  </a:lnTo>
                  <a:lnTo>
                    <a:pt x="50428" y="13100715"/>
                  </a:lnTo>
                  <a:lnTo>
                    <a:pt x="23539157" y="13100715"/>
                  </a:lnTo>
                  <a:lnTo>
                    <a:pt x="23539157" y="13154216"/>
                  </a:lnTo>
                  <a:lnTo>
                    <a:pt x="23488729" y="13154216"/>
                  </a:lnTo>
                  <a:lnTo>
                    <a:pt x="23488729" y="53500"/>
                  </a:lnTo>
                  <a:lnTo>
                    <a:pt x="23539157" y="53500"/>
                  </a:lnTo>
                  <a:lnTo>
                    <a:pt x="23539157" y="106999"/>
                  </a:lnTo>
                  <a:lnTo>
                    <a:pt x="50428" y="106999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7">
            <a:extLst>
              <a:ext uri="{FF2B5EF4-FFF2-40B4-BE49-F238E27FC236}">
                <a16:creationId xmlns:a16="http://schemas.microsoft.com/office/drawing/2014/main" id="{1EF9ACB4-FF73-6665-734F-8FFD9A0AEB99}"/>
              </a:ext>
            </a:extLst>
          </p:cNvPr>
          <p:cNvGrpSpPr/>
          <p:nvPr/>
        </p:nvGrpSpPr>
        <p:grpSpPr>
          <a:xfrm>
            <a:off x="673067" y="1873398"/>
            <a:ext cx="431673" cy="407861"/>
            <a:chOff x="0" y="0"/>
            <a:chExt cx="588367" cy="588367"/>
          </a:xfrm>
          <a:solidFill>
            <a:schemeClr val="tx1"/>
          </a:solidFill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E183C7F8-FDAB-B79A-A8D9-64B03B7F03FF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F85BB1FA-0E43-7074-F684-72597B624E99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3">
            <a:extLst>
              <a:ext uri="{FF2B5EF4-FFF2-40B4-BE49-F238E27FC236}">
                <a16:creationId xmlns:a16="http://schemas.microsoft.com/office/drawing/2014/main" id="{DEEB2CA9-C9C7-AE8F-CACD-5E26D48247BE}"/>
              </a:ext>
            </a:extLst>
          </p:cNvPr>
          <p:cNvGrpSpPr>
            <a:grpSpLocks noChangeAspect="1"/>
          </p:cNvGrpSpPr>
          <p:nvPr/>
        </p:nvGrpSpPr>
        <p:grpSpPr>
          <a:xfrm>
            <a:off x="14785384" y="376846"/>
            <a:ext cx="2512016" cy="1288294"/>
            <a:chOff x="0" y="0"/>
            <a:chExt cx="3649634" cy="1871726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EB6BD121-540B-8933-9D2A-9F4B11E8EEF1}"/>
                </a:ext>
              </a:extLst>
            </p:cNvPr>
            <p:cNvSpPr/>
            <p:nvPr/>
          </p:nvSpPr>
          <p:spPr>
            <a:xfrm>
              <a:off x="0" y="0"/>
              <a:ext cx="3649599" cy="1871726"/>
            </a:xfrm>
            <a:custGeom>
              <a:avLst/>
              <a:gdLst/>
              <a:ahLst/>
              <a:cxnLst/>
              <a:rect l="l" t="t" r="r" b="b"/>
              <a:pathLst>
                <a:path w="3649599" h="1871726">
                  <a:moveTo>
                    <a:pt x="0" y="0"/>
                  </a:moveTo>
                  <a:lnTo>
                    <a:pt x="3649599" y="0"/>
                  </a:lnTo>
                  <a:lnTo>
                    <a:pt x="3649599" y="1871726"/>
                  </a:lnTo>
                  <a:lnTo>
                    <a:pt x="0" y="1871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0" r="-9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1EAF47A0-AA02-BE1D-204F-AA301EE526BB}"/>
              </a:ext>
            </a:extLst>
          </p:cNvPr>
          <p:cNvSpPr/>
          <p:nvPr/>
        </p:nvSpPr>
        <p:spPr>
          <a:xfrm>
            <a:off x="692732" y="465803"/>
            <a:ext cx="2298694" cy="11180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dirty="0"/>
              <a:t>XLR8</a:t>
            </a: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070C551E-8AD5-8A50-6EF7-E53DDEDDA337}"/>
              </a:ext>
            </a:extLst>
          </p:cNvPr>
          <p:cNvGrpSpPr/>
          <p:nvPr/>
        </p:nvGrpSpPr>
        <p:grpSpPr>
          <a:xfrm>
            <a:off x="673067" y="8409200"/>
            <a:ext cx="431673" cy="407861"/>
            <a:chOff x="0" y="0"/>
            <a:chExt cx="588367" cy="588367"/>
          </a:xfrm>
          <a:solidFill>
            <a:schemeClr val="tx1"/>
          </a:solidFill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77668144-B2E6-404B-157F-A8E6569AA358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9496384-8473-4E2A-50EE-DD676B2C7019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Freeform 8">
            <a:extLst>
              <a:ext uri="{FF2B5EF4-FFF2-40B4-BE49-F238E27FC236}">
                <a16:creationId xmlns:a16="http://schemas.microsoft.com/office/drawing/2014/main" id="{BD93AF10-5B87-B6C2-8F59-87672E7E0122}"/>
              </a:ext>
            </a:extLst>
          </p:cNvPr>
          <p:cNvSpPr/>
          <p:nvPr/>
        </p:nvSpPr>
        <p:spPr>
          <a:xfrm>
            <a:off x="677726" y="6503510"/>
            <a:ext cx="422280" cy="398986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1480E88-31B3-E30F-E67B-9DC13003D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9461" y="1986335"/>
            <a:ext cx="8653327" cy="747812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862E2F9-6A7C-B0C6-97EA-0B2A811D0460}"/>
              </a:ext>
            </a:extLst>
          </p:cNvPr>
          <p:cNvSpPr txBox="1"/>
          <p:nvPr/>
        </p:nvSpPr>
        <p:spPr>
          <a:xfrm>
            <a:off x="2957013" y="9580407"/>
            <a:ext cx="12606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Input =&gt; AI processing =&gt;Scheme Matching =&gt; Guided Application Support</a:t>
            </a:r>
            <a:endParaRPr lang="en-IN" sz="2400" b="1" dirty="0">
              <a:latin typeface="Arial Black" panose="020B0A04020102020204" pitchFamily="34" charset="0"/>
            </a:endParaRPr>
          </a:p>
        </p:txBody>
      </p:sp>
      <p:grpSp>
        <p:nvGrpSpPr>
          <p:cNvPr id="38" name="Group 7">
            <a:extLst>
              <a:ext uri="{FF2B5EF4-FFF2-40B4-BE49-F238E27FC236}">
                <a16:creationId xmlns:a16="http://schemas.microsoft.com/office/drawing/2014/main" id="{BCE9F12A-E7C9-2665-5A0C-FD0693A2BE50}"/>
              </a:ext>
            </a:extLst>
          </p:cNvPr>
          <p:cNvGrpSpPr/>
          <p:nvPr/>
        </p:nvGrpSpPr>
        <p:grpSpPr>
          <a:xfrm>
            <a:off x="673028" y="4162053"/>
            <a:ext cx="431673" cy="407861"/>
            <a:chOff x="0" y="0"/>
            <a:chExt cx="588367" cy="588367"/>
          </a:xfrm>
          <a:solidFill>
            <a:schemeClr val="tx1"/>
          </a:solidFill>
        </p:grpSpPr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A7522BF0-FF2A-B5AA-749D-C0ED521560E4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03A9ABCD-F5EA-1B39-E165-F65E0099FB6B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7789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0DAD7-1000-6AD1-54AB-EAAF609A9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54CEB5C7-AEC1-61C9-B296-840861D5A7F0}"/>
              </a:ext>
            </a:extLst>
          </p:cNvPr>
          <p:cNvSpPr/>
          <p:nvPr/>
        </p:nvSpPr>
        <p:spPr>
          <a:xfrm>
            <a:off x="714337" y="1873129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488108-1844-CEBD-DF9B-3B18FD2A5B98}"/>
              </a:ext>
            </a:extLst>
          </p:cNvPr>
          <p:cNvSpPr txBox="1"/>
          <p:nvPr/>
        </p:nvSpPr>
        <p:spPr>
          <a:xfrm>
            <a:off x="5601934" y="708570"/>
            <a:ext cx="8037866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   Impact Potential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67C17A5-0B69-68B4-C8FB-215178B26549}"/>
              </a:ext>
            </a:extLst>
          </p:cNvPr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F840D8-31A0-568E-C491-AA21E2ACC98D}"/>
              </a:ext>
            </a:extLst>
          </p:cNvPr>
          <p:cNvSpPr txBox="1"/>
          <p:nvPr/>
        </p:nvSpPr>
        <p:spPr>
          <a:xfrm>
            <a:off x="1248587" y="2061101"/>
            <a:ext cx="7895413" cy="613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Increases Inclusivity &amp; Reach</a:t>
            </a:r>
            <a:endParaRPr lang="en-US" sz="3899" b="1" dirty="0">
              <a:solidFill>
                <a:srgbClr val="272525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F5B24CC-4117-E083-A78C-77DCC7748326}"/>
              </a:ext>
            </a:extLst>
          </p:cNvPr>
          <p:cNvSpPr txBox="1"/>
          <p:nvPr/>
        </p:nvSpPr>
        <p:spPr>
          <a:xfrm>
            <a:off x="1253504" y="2716902"/>
            <a:ext cx="9858375" cy="935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400" dirty="0"/>
              <a:t>Enables citizens across languages and literacy levels to discover and access government schemes easily.</a:t>
            </a:r>
            <a:endParaRPr lang="en-US" sz="2399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C408066-3892-8507-4E76-56EAE3E4D0CB}"/>
              </a:ext>
            </a:extLst>
          </p:cNvPr>
          <p:cNvSpPr txBox="1"/>
          <p:nvPr/>
        </p:nvSpPr>
        <p:spPr>
          <a:xfrm>
            <a:off x="1233839" y="3766090"/>
            <a:ext cx="71913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Improves Scheme Efficiency</a:t>
            </a:r>
            <a:endParaRPr lang="en-US" sz="3899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DFA97FC-E2CE-DF5D-F78D-D60402F291CC}"/>
              </a:ext>
            </a:extLst>
          </p:cNvPr>
          <p:cNvSpPr txBox="1"/>
          <p:nvPr/>
        </p:nvSpPr>
        <p:spPr>
          <a:xfrm>
            <a:off x="1248586" y="4362766"/>
            <a:ext cx="9858375" cy="935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400" dirty="0"/>
              <a:t>More accurate, relevant applicants reduce bottlenecks and enhance effective distribution of welfare benefits.</a:t>
            </a:r>
            <a:endParaRPr lang="en-US" sz="2399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7C809EB-49D4-32C2-4CDC-83FBDBD60568}"/>
              </a:ext>
            </a:extLst>
          </p:cNvPr>
          <p:cNvSpPr txBox="1"/>
          <p:nvPr/>
        </p:nvSpPr>
        <p:spPr>
          <a:xfrm>
            <a:off x="1209258" y="5400864"/>
            <a:ext cx="89439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Saves Time &amp; Builds Confidence</a:t>
            </a:r>
            <a:endParaRPr lang="en-US" sz="3899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F6F5AC0-5483-CB56-C7BA-4AD8FAFD10A4}"/>
              </a:ext>
            </a:extLst>
          </p:cNvPr>
          <p:cNvSpPr txBox="1"/>
          <p:nvPr/>
        </p:nvSpPr>
        <p:spPr>
          <a:xfrm>
            <a:off x="1255933" y="7155180"/>
            <a:ext cx="77247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Benefits All Stakeholders</a:t>
            </a:r>
            <a:endParaRPr lang="en-US" sz="3899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EDB81FE-4D84-0D6A-AD46-37749095F341}"/>
              </a:ext>
            </a:extLst>
          </p:cNvPr>
          <p:cNvSpPr txBox="1"/>
          <p:nvPr/>
        </p:nvSpPr>
        <p:spPr>
          <a:xfrm>
            <a:off x="1249359" y="6051792"/>
            <a:ext cx="9397670" cy="935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400" dirty="0"/>
              <a:t>Simplifies complex processes, reducing confusion and empowering citizens to apply independently.</a:t>
            </a:r>
            <a:endParaRPr lang="en-US" sz="2399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D23FEAA-22CC-07EB-55E8-481D78E4D5CD}"/>
              </a:ext>
            </a:extLst>
          </p:cNvPr>
          <p:cNvSpPr txBox="1"/>
          <p:nvPr/>
        </p:nvSpPr>
        <p:spPr>
          <a:xfrm>
            <a:off x="1249359" y="7858507"/>
            <a:ext cx="9397670" cy="1412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400" dirty="0"/>
              <a:t>Citizens get relevant support, governments gain better implementation, and institutions receive more suitable applicants.</a:t>
            </a:r>
          </a:p>
          <a:p>
            <a:pPr>
              <a:lnSpc>
                <a:spcPts val="3799"/>
              </a:lnSpc>
            </a:pPr>
            <a:endParaRPr lang="en-US" sz="2399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B3B521C2-FE6A-A942-B2D3-5A4241E3DED0}"/>
              </a:ext>
            </a:extLst>
          </p:cNvPr>
          <p:cNvGrpSpPr/>
          <p:nvPr/>
        </p:nvGrpSpPr>
        <p:grpSpPr>
          <a:xfrm>
            <a:off x="304633" y="197553"/>
            <a:ext cx="17615816" cy="9863034"/>
            <a:chOff x="0" y="0"/>
            <a:chExt cx="23589567" cy="1320771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E2F499A-431C-081E-8152-2F3045B46B2E}"/>
                </a:ext>
              </a:extLst>
            </p:cNvPr>
            <p:cNvSpPr/>
            <p:nvPr/>
          </p:nvSpPr>
          <p:spPr>
            <a:xfrm>
              <a:off x="0" y="0"/>
              <a:ext cx="23589585" cy="13207715"/>
            </a:xfrm>
            <a:custGeom>
              <a:avLst/>
              <a:gdLst/>
              <a:ahLst/>
              <a:cxnLst/>
              <a:rect l="l" t="t" r="r" b="b"/>
              <a:pathLst>
                <a:path w="23589585" h="13207715">
                  <a:moveTo>
                    <a:pt x="50428" y="0"/>
                  </a:moveTo>
                  <a:lnTo>
                    <a:pt x="23539157" y="0"/>
                  </a:lnTo>
                  <a:cubicBezTo>
                    <a:pt x="23567017" y="0"/>
                    <a:pt x="23589585" y="23941"/>
                    <a:pt x="23589585" y="53500"/>
                  </a:cubicBezTo>
                  <a:lnTo>
                    <a:pt x="23589585" y="13154216"/>
                  </a:lnTo>
                  <a:cubicBezTo>
                    <a:pt x="23589585" y="13183774"/>
                    <a:pt x="23567017" y="13207715"/>
                    <a:pt x="23539157" y="13207715"/>
                  </a:cubicBezTo>
                  <a:lnTo>
                    <a:pt x="50428" y="13207715"/>
                  </a:lnTo>
                  <a:cubicBezTo>
                    <a:pt x="22567" y="13207715"/>
                    <a:pt x="0" y="13183774"/>
                    <a:pt x="0" y="13154216"/>
                  </a:cubicBezTo>
                  <a:lnTo>
                    <a:pt x="0" y="53500"/>
                  </a:lnTo>
                  <a:cubicBezTo>
                    <a:pt x="0" y="23941"/>
                    <a:pt x="22567" y="0"/>
                    <a:pt x="50428" y="0"/>
                  </a:cubicBezTo>
                  <a:moveTo>
                    <a:pt x="50428" y="106999"/>
                  </a:moveTo>
                  <a:lnTo>
                    <a:pt x="50428" y="53500"/>
                  </a:lnTo>
                  <a:lnTo>
                    <a:pt x="100857" y="53500"/>
                  </a:lnTo>
                  <a:lnTo>
                    <a:pt x="100857" y="13154216"/>
                  </a:lnTo>
                  <a:lnTo>
                    <a:pt x="50428" y="13154216"/>
                  </a:lnTo>
                  <a:lnTo>
                    <a:pt x="50428" y="13100715"/>
                  </a:lnTo>
                  <a:lnTo>
                    <a:pt x="23539157" y="13100715"/>
                  </a:lnTo>
                  <a:lnTo>
                    <a:pt x="23539157" y="13154216"/>
                  </a:lnTo>
                  <a:lnTo>
                    <a:pt x="23488729" y="13154216"/>
                  </a:lnTo>
                  <a:lnTo>
                    <a:pt x="23488729" y="53500"/>
                  </a:lnTo>
                  <a:lnTo>
                    <a:pt x="23539157" y="53500"/>
                  </a:lnTo>
                  <a:lnTo>
                    <a:pt x="23539157" y="106999"/>
                  </a:lnTo>
                  <a:lnTo>
                    <a:pt x="50428" y="106999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7">
            <a:extLst>
              <a:ext uri="{FF2B5EF4-FFF2-40B4-BE49-F238E27FC236}">
                <a16:creationId xmlns:a16="http://schemas.microsoft.com/office/drawing/2014/main" id="{CDFAE5B1-1B7E-10D3-F2E8-3BEAD46728A6}"/>
              </a:ext>
            </a:extLst>
          </p:cNvPr>
          <p:cNvGrpSpPr/>
          <p:nvPr/>
        </p:nvGrpSpPr>
        <p:grpSpPr>
          <a:xfrm>
            <a:off x="686408" y="2150336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FDA49333-A410-5005-B17A-1964F934B82D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8A3DE961-9185-EF8C-0741-080C03BBC4A1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Freeform 8">
            <a:extLst>
              <a:ext uri="{FF2B5EF4-FFF2-40B4-BE49-F238E27FC236}">
                <a16:creationId xmlns:a16="http://schemas.microsoft.com/office/drawing/2014/main" id="{8A06C593-4420-EFFA-C2E9-A08E0FB99E83}"/>
              </a:ext>
            </a:extLst>
          </p:cNvPr>
          <p:cNvSpPr/>
          <p:nvPr/>
        </p:nvSpPr>
        <p:spPr>
          <a:xfrm>
            <a:off x="686408" y="3840674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3EA8F4B1-A9FE-B7D4-D7BB-6CCD6B580217}"/>
              </a:ext>
            </a:extLst>
          </p:cNvPr>
          <p:cNvSpPr/>
          <p:nvPr/>
        </p:nvSpPr>
        <p:spPr>
          <a:xfrm>
            <a:off x="686408" y="5461145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CA3672D0-3D24-EC65-92C8-CFC7F6925FFA}"/>
              </a:ext>
            </a:extLst>
          </p:cNvPr>
          <p:cNvSpPr/>
          <p:nvPr/>
        </p:nvSpPr>
        <p:spPr>
          <a:xfrm>
            <a:off x="686408" y="7233591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E27C83D-BF99-3180-A00B-3F69F33C5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148" y="2171781"/>
            <a:ext cx="6639252" cy="6349727"/>
          </a:xfrm>
          <a:prstGeom prst="rect">
            <a:avLst/>
          </a:prstGeom>
        </p:spPr>
      </p:pic>
      <p:grpSp>
        <p:nvGrpSpPr>
          <p:cNvPr id="5" name="Group 3">
            <a:extLst>
              <a:ext uri="{FF2B5EF4-FFF2-40B4-BE49-F238E27FC236}">
                <a16:creationId xmlns:a16="http://schemas.microsoft.com/office/drawing/2014/main" id="{15AB24DC-7CDC-2781-D863-5E6D3FE00CB0}"/>
              </a:ext>
            </a:extLst>
          </p:cNvPr>
          <p:cNvGrpSpPr>
            <a:grpSpLocks noChangeAspect="1"/>
          </p:cNvGrpSpPr>
          <p:nvPr/>
        </p:nvGrpSpPr>
        <p:grpSpPr>
          <a:xfrm>
            <a:off x="14785384" y="376846"/>
            <a:ext cx="2737226" cy="1403794"/>
            <a:chOff x="0" y="0"/>
            <a:chExt cx="3649634" cy="1871726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098891B4-BBB6-C57B-EE5C-F382CCE4457F}"/>
                </a:ext>
              </a:extLst>
            </p:cNvPr>
            <p:cNvSpPr/>
            <p:nvPr/>
          </p:nvSpPr>
          <p:spPr>
            <a:xfrm>
              <a:off x="0" y="0"/>
              <a:ext cx="3649599" cy="1871726"/>
            </a:xfrm>
            <a:custGeom>
              <a:avLst/>
              <a:gdLst/>
              <a:ahLst/>
              <a:cxnLst/>
              <a:rect l="l" t="t" r="r" b="b"/>
              <a:pathLst>
                <a:path w="3649599" h="1871726">
                  <a:moveTo>
                    <a:pt x="0" y="0"/>
                  </a:moveTo>
                  <a:lnTo>
                    <a:pt x="3649599" y="0"/>
                  </a:lnTo>
                  <a:lnTo>
                    <a:pt x="3649599" y="1871726"/>
                  </a:lnTo>
                  <a:lnTo>
                    <a:pt x="0" y="1871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0" r="-9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86B531DC-10C9-9C7B-BB0D-5B81B578B6FA}"/>
              </a:ext>
            </a:extLst>
          </p:cNvPr>
          <p:cNvSpPr/>
          <p:nvPr/>
        </p:nvSpPr>
        <p:spPr>
          <a:xfrm>
            <a:off x="673106" y="345148"/>
            <a:ext cx="2464061" cy="13925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dirty="0"/>
              <a:t>XLR8</a:t>
            </a:r>
          </a:p>
        </p:txBody>
      </p:sp>
    </p:spTree>
    <p:extLst>
      <p:ext uri="{BB962C8B-B14F-4D97-AF65-F5344CB8AC3E}">
        <p14:creationId xmlns:p14="http://schemas.microsoft.com/office/powerpoint/2010/main" val="64313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6B0-FED6-0B56-928B-A4BBBAAE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6FB6ADF6-7FF8-E63D-7C56-EBDE18A29189}"/>
              </a:ext>
            </a:extLst>
          </p:cNvPr>
          <p:cNvSpPr/>
          <p:nvPr/>
        </p:nvSpPr>
        <p:spPr>
          <a:xfrm>
            <a:off x="714337" y="1873129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2E89D91-120C-DB9A-E90B-321F57ABB700}"/>
              </a:ext>
            </a:extLst>
          </p:cNvPr>
          <p:cNvSpPr txBox="1"/>
          <p:nvPr/>
        </p:nvSpPr>
        <p:spPr>
          <a:xfrm>
            <a:off x="4180577" y="692127"/>
            <a:ext cx="10414661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Feasibility and Risk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151B6DC-5436-4BEB-AF05-D67B3DADC345}"/>
              </a:ext>
            </a:extLst>
          </p:cNvPr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233A1D6-7240-BEB0-CE0A-2B79DD48D855}"/>
              </a:ext>
            </a:extLst>
          </p:cNvPr>
          <p:cNvSpPr txBox="1"/>
          <p:nvPr/>
        </p:nvSpPr>
        <p:spPr>
          <a:xfrm>
            <a:off x="1234340" y="1958834"/>
            <a:ext cx="7895413" cy="613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Feasibility:</a:t>
            </a:r>
            <a:endParaRPr lang="en-US" sz="3899" b="1" dirty="0">
              <a:solidFill>
                <a:srgbClr val="272525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C1B5E5-9B76-8F1A-B510-2CC2970C03DF}"/>
              </a:ext>
            </a:extLst>
          </p:cNvPr>
          <p:cNvSpPr txBox="1"/>
          <p:nvPr/>
        </p:nvSpPr>
        <p:spPr>
          <a:xfrm>
            <a:off x="1265793" y="2621949"/>
            <a:ext cx="15004149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/>
              <a:t>Cost-effective &amp; lightweight:</a:t>
            </a:r>
            <a:r>
              <a:rPr lang="en-US" sz="2800" dirty="0"/>
              <a:t> Uses open-source AI models, minimal infra, CPU-friendly deployment.</a:t>
            </a:r>
          </a:p>
          <a:p>
            <a:r>
              <a:rPr lang="en-US" sz="2800" b="1" dirty="0"/>
              <a:t>Easy integration:</a:t>
            </a:r>
            <a:r>
              <a:rPr lang="en-US" sz="2800" dirty="0"/>
              <a:t> Simple APIs allow smooth linkage with backend and government systems.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E055B6A-600F-74DB-B9BD-3A7BFD9BE84E}"/>
              </a:ext>
            </a:extLst>
          </p:cNvPr>
          <p:cNvSpPr txBox="1"/>
          <p:nvPr/>
        </p:nvSpPr>
        <p:spPr>
          <a:xfrm>
            <a:off x="1233839" y="3977056"/>
            <a:ext cx="71913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Key Challenges:</a:t>
            </a:r>
            <a:endParaRPr lang="en-US" sz="3899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A61BF40-A9AD-79CB-F848-ABCE4422C070}"/>
              </a:ext>
            </a:extLst>
          </p:cNvPr>
          <p:cNvSpPr txBox="1"/>
          <p:nvPr/>
        </p:nvSpPr>
        <p:spPr>
          <a:xfrm>
            <a:off x="1233839" y="4744781"/>
            <a:ext cx="9858375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800" dirty="0"/>
              <a:t>More accurate, relevant applicants reduce bottlenecks and enhance effective distribution of welfare benefits.</a:t>
            </a:r>
            <a:endParaRPr lang="en-US" sz="2800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0434504-5648-087E-1185-81CFDC6B433E}"/>
              </a:ext>
            </a:extLst>
          </p:cNvPr>
          <p:cNvSpPr txBox="1"/>
          <p:nvPr/>
        </p:nvSpPr>
        <p:spPr>
          <a:xfrm>
            <a:off x="1233839" y="5964928"/>
            <a:ext cx="89439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Risks:</a:t>
            </a:r>
            <a:endParaRPr lang="en-US" sz="3899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FE225F9-7B04-B19C-FB6A-3596BE7E71B7}"/>
              </a:ext>
            </a:extLst>
          </p:cNvPr>
          <p:cNvSpPr txBox="1"/>
          <p:nvPr/>
        </p:nvSpPr>
        <p:spPr>
          <a:xfrm>
            <a:off x="1228922" y="7721245"/>
            <a:ext cx="77247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Mitigation Strategies:</a:t>
            </a:r>
            <a:endParaRPr lang="en-US" sz="3899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1ED9346-E503-53CA-80DD-6208C0178B62}"/>
              </a:ext>
            </a:extLst>
          </p:cNvPr>
          <p:cNvSpPr txBox="1"/>
          <p:nvPr/>
        </p:nvSpPr>
        <p:spPr>
          <a:xfrm>
            <a:off x="1233839" y="6672912"/>
            <a:ext cx="939767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800" b="1" dirty="0"/>
              <a:t>Data privacy &amp; security:</a:t>
            </a:r>
            <a:r>
              <a:rPr lang="en-US" sz="2800" dirty="0"/>
              <a:t> Protecting user data and securing third-party/government API calls</a:t>
            </a:r>
            <a:endParaRPr lang="en-US" sz="2800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68A88A3-51E0-CA64-0AA6-F9459BB99211}"/>
              </a:ext>
            </a:extLst>
          </p:cNvPr>
          <p:cNvSpPr txBox="1"/>
          <p:nvPr/>
        </p:nvSpPr>
        <p:spPr>
          <a:xfrm>
            <a:off x="1265792" y="8387441"/>
            <a:ext cx="11383407" cy="1412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800" dirty="0"/>
              <a:t>Citizens get relevant support, governments gain better implementation, and institutions receive more suitable applicants.</a:t>
            </a:r>
          </a:p>
          <a:p>
            <a:pPr>
              <a:lnSpc>
                <a:spcPts val="3799"/>
              </a:lnSpc>
            </a:pPr>
            <a:endParaRPr lang="en-US" sz="2399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6D1C5490-0D77-64C3-348C-06A0639C2876}"/>
              </a:ext>
            </a:extLst>
          </p:cNvPr>
          <p:cNvGrpSpPr/>
          <p:nvPr/>
        </p:nvGrpSpPr>
        <p:grpSpPr>
          <a:xfrm>
            <a:off x="304633" y="197553"/>
            <a:ext cx="17615816" cy="9863034"/>
            <a:chOff x="0" y="0"/>
            <a:chExt cx="23589567" cy="1320771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D5CF239F-D69D-194C-DCC2-E71578AAF06A}"/>
                </a:ext>
              </a:extLst>
            </p:cNvPr>
            <p:cNvSpPr/>
            <p:nvPr/>
          </p:nvSpPr>
          <p:spPr>
            <a:xfrm>
              <a:off x="0" y="0"/>
              <a:ext cx="23589585" cy="13207715"/>
            </a:xfrm>
            <a:custGeom>
              <a:avLst/>
              <a:gdLst/>
              <a:ahLst/>
              <a:cxnLst/>
              <a:rect l="l" t="t" r="r" b="b"/>
              <a:pathLst>
                <a:path w="23589585" h="13207715">
                  <a:moveTo>
                    <a:pt x="50428" y="0"/>
                  </a:moveTo>
                  <a:lnTo>
                    <a:pt x="23539157" y="0"/>
                  </a:lnTo>
                  <a:cubicBezTo>
                    <a:pt x="23567017" y="0"/>
                    <a:pt x="23589585" y="23941"/>
                    <a:pt x="23589585" y="53500"/>
                  </a:cubicBezTo>
                  <a:lnTo>
                    <a:pt x="23589585" y="13154216"/>
                  </a:lnTo>
                  <a:cubicBezTo>
                    <a:pt x="23589585" y="13183774"/>
                    <a:pt x="23567017" y="13207715"/>
                    <a:pt x="23539157" y="13207715"/>
                  </a:cubicBezTo>
                  <a:lnTo>
                    <a:pt x="50428" y="13207715"/>
                  </a:lnTo>
                  <a:cubicBezTo>
                    <a:pt x="22567" y="13207715"/>
                    <a:pt x="0" y="13183774"/>
                    <a:pt x="0" y="13154216"/>
                  </a:cubicBezTo>
                  <a:lnTo>
                    <a:pt x="0" y="53500"/>
                  </a:lnTo>
                  <a:cubicBezTo>
                    <a:pt x="0" y="23941"/>
                    <a:pt x="22567" y="0"/>
                    <a:pt x="50428" y="0"/>
                  </a:cubicBezTo>
                  <a:moveTo>
                    <a:pt x="50428" y="106999"/>
                  </a:moveTo>
                  <a:lnTo>
                    <a:pt x="50428" y="53500"/>
                  </a:lnTo>
                  <a:lnTo>
                    <a:pt x="100857" y="53500"/>
                  </a:lnTo>
                  <a:lnTo>
                    <a:pt x="100857" y="13154216"/>
                  </a:lnTo>
                  <a:lnTo>
                    <a:pt x="50428" y="13154216"/>
                  </a:lnTo>
                  <a:lnTo>
                    <a:pt x="50428" y="13100715"/>
                  </a:lnTo>
                  <a:lnTo>
                    <a:pt x="23539157" y="13100715"/>
                  </a:lnTo>
                  <a:lnTo>
                    <a:pt x="23539157" y="13154216"/>
                  </a:lnTo>
                  <a:lnTo>
                    <a:pt x="23488729" y="13154216"/>
                  </a:lnTo>
                  <a:lnTo>
                    <a:pt x="23488729" y="53500"/>
                  </a:lnTo>
                  <a:lnTo>
                    <a:pt x="23539157" y="53500"/>
                  </a:lnTo>
                  <a:lnTo>
                    <a:pt x="23539157" y="106999"/>
                  </a:lnTo>
                  <a:lnTo>
                    <a:pt x="50428" y="106999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7">
            <a:extLst>
              <a:ext uri="{FF2B5EF4-FFF2-40B4-BE49-F238E27FC236}">
                <a16:creationId xmlns:a16="http://schemas.microsoft.com/office/drawing/2014/main" id="{85F7671C-5243-D1BB-127C-599F1B99AC28}"/>
              </a:ext>
            </a:extLst>
          </p:cNvPr>
          <p:cNvGrpSpPr/>
          <p:nvPr/>
        </p:nvGrpSpPr>
        <p:grpSpPr>
          <a:xfrm>
            <a:off x="686407" y="2045669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B801D3AD-1267-25A3-DB48-7F325614CA22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C1C00453-7A95-D0E4-150B-1B53C064D32D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Freeform 8">
            <a:extLst>
              <a:ext uri="{FF2B5EF4-FFF2-40B4-BE49-F238E27FC236}">
                <a16:creationId xmlns:a16="http://schemas.microsoft.com/office/drawing/2014/main" id="{C1800ECF-7E95-B019-535F-1C2609066CE2}"/>
              </a:ext>
            </a:extLst>
          </p:cNvPr>
          <p:cNvSpPr/>
          <p:nvPr/>
        </p:nvSpPr>
        <p:spPr>
          <a:xfrm>
            <a:off x="686407" y="4069090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5EA7A14C-8817-2175-5EA6-88FD362CA11D}"/>
              </a:ext>
            </a:extLst>
          </p:cNvPr>
          <p:cNvSpPr/>
          <p:nvPr/>
        </p:nvSpPr>
        <p:spPr>
          <a:xfrm>
            <a:off x="695933" y="6053341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87132E94-4497-60F4-7BFA-2953777099B8}"/>
              </a:ext>
            </a:extLst>
          </p:cNvPr>
          <p:cNvSpPr/>
          <p:nvPr/>
        </p:nvSpPr>
        <p:spPr>
          <a:xfrm>
            <a:off x="686407" y="7809658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731D31AF-86C1-D6E4-7983-44F27BE2FAEF}"/>
              </a:ext>
            </a:extLst>
          </p:cNvPr>
          <p:cNvGrpSpPr>
            <a:grpSpLocks noChangeAspect="1"/>
          </p:cNvGrpSpPr>
          <p:nvPr/>
        </p:nvGrpSpPr>
        <p:grpSpPr>
          <a:xfrm>
            <a:off x="14785384" y="376846"/>
            <a:ext cx="2737226" cy="1403794"/>
            <a:chOff x="0" y="0"/>
            <a:chExt cx="3649634" cy="1871726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3C56D808-8329-7A1B-5C34-1E5614C32E62}"/>
                </a:ext>
              </a:extLst>
            </p:cNvPr>
            <p:cNvSpPr/>
            <p:nvPr/>
          </p:nvSpPr>
          <p:spPr>
            <a:xfrm>
              <a:off x="0" y="0"/>
              <a:ext cx="3649599" cy="1871726"/>
            </a:xfrm>
            <a:custGeom>
              <a:avLst/>
              <a:gdLst/>
              <a:ahLst/>
              <a:cxnLst/>
              <a:rect l="l" t="t" r="r" b="b"/>
              <a:pathLst>
                <a:path w="3649599" h="1871726">
                  <a:moveTo>
                    <a:pt x="0" y="0"/>
                  </a:moveTo>
                  <a:lnTo>
                    <a:pt x="3649599" y="0"/>
                  </a:lnTo>
                  <a:lnTo>
                    <a:pt x="3649599" y="1871726"/>
                  </a:lnTo>
                  <a:lnTo>
                    <a:pt x="0" y="1871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0" r="-9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5BE6C9FA-7B02-152A-9A49-A354AFA619ED}"/>
              </a:ext>
            </a:extLst>
          </p:cNvPr>
          <p:cNvSpPr/>
          <p:nvPr/>
        </p:nvSpPr>
        <p:spPr>
          <a:xfrm>
            <a:off x="673106" y="345148"/>
            <a:ext cx="2464061" cy="13925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dirty="0"/>
              <a:t>XLR8</a:t>
            </a:r>
          </a:p>
        </p:txBody>
      </p:sp>
    </p:spTree>
    <p:extLst>
      <p:ext uri="{BB962C8B-B14F-4D97-AF65-F5344CB8AC3E}">
        <p14:creationId xmlns:p14="http://schemas.microsoft.com/office/powerpoint/2010/main" val="2439500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6AD5D-4CC5-6191-B0A0-C5FA352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5A1FF257-CB9C-7B83-98DA-3581CB9CD49C}"/>
              </a:ext>
            </a:extLst>
          </p:cNvPr>
          <p:cNvSpPr/>
          <p:nvPr/>
        </p:nvSpPr>
        <p:spPr>
          <a:xfrm>
            <a:off x="695933" y="1591990"/>
            <a:ext cx="16913524" cy="2381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A6C61FD-04D0-6880-9FCC-154D52D369C2}"/>
              </a:ext>
            </a:extLst>
          </p:cNvPr>
          <p:cNvSpPr txBox="1"/>
          <p:nvPr/>
        </p:nvSpPr>
        <p:spPr>
          <a:xfrm>
            <a:off x="5715000" y="391269"/>
            <a:ext cx="68580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25"/>
              </a:lnSpc>
            </a:pPr>
            <a:r>
              <a:rPr lang="en-US" sz="5932" b="1" spc="-59" dirty="0">
                <a:solidFill>
                  <a:srgbClr val="0D47A1"/>
                </a:solidFill>
                <a:latin typeface="Telegraf Bold"/>
                <a:ea typeface="Telegraf Bold"/>
                <a:cs typeface="Telegraf Bold"/>
                <a:sym typeface="Telegraf Bold"/>
              </a:rPr>
              <a:t>Team &amp; Reference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2BB7016-02EB-4A0C-3A2C-FD77315FD925}"/>
              </a:ext>
            </a:extLst>
          </p:cNvPr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757575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7D33CBD-2837-7E1F-F961-09D9D388652D}"/>
              </a:ext>
            </a:extLst>
          </p:cNvPr>
          <p:cNvSpPr txBox="1"/>
          <p:nvPr/>
        </p:nvSpPr>
        <p:spPr>
          <a:xfrm>
            <a:off x="1187637" y="1663502"/>
            <a:ext cx="7895413" cy="613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US" sz="4000" b="1" dirty="0">
                <a:solidFill>
                  <a:srgbClr val="272525"/>
                </a:solidFill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IN" sz="4000" b="1" dirty="0" err="1">
                <a:solidFill>
                  <a:srgbClr val="272525"/>
                </a:solidFill>
                <a:ea typeface="Times New Roman Bold"/>
                <a:cs typeface="Times New Roman Bold"/>
                <a:sym typeface="Times New Roman Bold"/>
              </a:rPr>
              <a:t>eam</a:t>
            </a:r>
            <a:r>
              <a:rPr lang="en-IN" sz="4000" b="1" dirty="0">
                <a:solidFill>
                  <a:srgbClr val="272525"/>
                </a:solidFill>
                <a:ea typeface="Times New Roman Bold"/>
                <a:cs typeface="Times New Roman Bold"/>
                <a:sym typeface="Times New Roman Bold"/>
              </a:rPr>
              <a:t> Composition:</a:t>
            </a:r>
            <a:endParaRPr lang="en-US" sz="3899" b="1" dirty="0">
              <a:solidFill>
                <a:srgbClr val="272525"/>
              </a:solidFill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FD878DD-63A0-F722-6F4D-DF56A1E9024D}"/>
              </a:ext>
            </a:extLst>
          </p:cNvPr>
          <p:cNvSpPr txBox="1"/>
          <p:nvPr/>
        </p:nvSpPr>
        <p:spPr>
          <a:xfrm>
            <a:off x="1187637" y="3483574"/>
            <a:ext cx="71913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IN" sz="4000" b="1" dirty="0"/>
              <a:t>Challenges:</a:t>
            </a:r>
            <a:endParaRPr lang="en-US" sz="3899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2CCC961-1B6B-3CA0-F02A-8FBFA37F7302}"/>
              </a:ext>
            </a:extLst>
          </p:cNvPr>
          <p:cNvSpPr txBox="1"/>
          <p:nvPr/>
        </p:nvSpPr>
        <p:spPr>
          <a:xfrm>
            <a:off x="1518906" y="3928090"/>
            <a:ext cx="9858375" cy="924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400" dirty="0"/>
              <a:t>Aligning complex scheme data into a unified structure.</a:t>
            </a:r>
          </a:p>
          <a:p>
            <a:pPr>
              <a:lnSpc>
                <a:spcPts val="3799"/>
              </a:lnSpc>
            </a:pPr>
            <a:r>
              <a:rPr lang="en-US" sz="2400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Ensuring accuracy and inclusivity across multiple languages.</a:t>
            </a:r>
            <a:endParaRPr lang="en-US" sz="2399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FC00133-9625-AA29-3C1F-3B7ACBD1771D}"/>
              </a:ext>
            </a:extLst>
          </p:cNvPr>
          <p:cNvSpPr txBox="1"/>
          <p:nvPr/>
        </p:nvSpPr>
        <p:spPr>
          <a:xfrm>
            <a:off x="1187637" y="4728144"/>
            <a:ext cx="8943975" cy="60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74"/>
              </a:lnSpc>
            </a:pPr>
            <a:r>
              <a:rPr lang="en-US" sz="4000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IN" sz="4000" b="1" dirty="0" err="1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eam</a:t>
            </a:r>
            <a:r>
              <a:rPr lang="en-IN" sz="4000" b="1" dirty="0">
                <a:solidFill>
                  <a:srgbClr val="27252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Journey:</a:t>
            </a:r>
            <a:endParaRPr lang="en-US" sz="3899" b="1" dirty="0">
              <a:solidFill>
                <a:srgbClr val="272525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271A2FE-383C-CA74-FD71-071899559C5F}"/>
              </a:ext>
            </a:extLst>
          </p:cNvPr>
          <p:cNvSpPr txBox="1"/>
          <p:nvPr/>
        </p:nvSpPr>
        <p:spPr>
          <a:xfrm>
            <a:off x="1518906" y="5200298"/>
            <a:ext cx="9992142" cy="924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99"/>
              </a:lnSpc>
            </a:pPr>
            <a:r>
              <a:rPr lang="en-US" sz="2400" dirty="0"/>
              <a:t>Collaborated across roles to merge AI, design and Engineering.</a:t>
            </a:r>
          </a:p>
          <a:p>
            <a:pPr>
              <a:lnSpc>
                <a:spcPts val="3799"/>
              </a:lnSpc>
            </a:pPr>
            <a:r>
              <a:rPr lang="en-US" sz="2400" dirty="0">
                <a:solidFill>
                  <a:srgbClr val="27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prototyping, frequent iteration and strong teamwork shaped the solution.</a:t>
            </a:r>
            <a:endParaRPr lang="en-US" sz="2399" dirty="0">
              <a:solidFill>
                <a:srgbClr val="27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1BC24F6E-53D6-7F9A-B94A-71963DD45342}"/>
              </a:ext>
            </a:extLst>
          </p:cNvPr>
          <p:cNvGrpSpPr/>
          <p:nvPr/>
        </p:nvGrpSpPr>
        <p:grpSpPr>
          <a:xfrm>
            <a:off x="304633" y="197553"/>
            <a:ext cx="17615816" cy="9863034"/>
            <a:chOff x="0" y="0"/>
            <a:chExt cx="23589567" cy="13207717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8428357-576B-BFA5-E844-672740A7B498}"/>
                </a:ext>
              </a:extLst>
            </p:cNvPr>
            <p:cNvSpPr/>
            <p:nvPr/>
          </p:nvSpPr>
          <p:spPr>
            <a:xfrm>
              <a:off x="0" y="0"/>
              <a:ext cx="23589585" cy="13207715"/>
            </a:xfrm>
            <a:custGeom>
              <a:avLst/>
              <a:gdLst/>
              <a:ahLst/>
              <a:cxnLst/>
              <a:rect l="l" t="t" r="r" b="b"/>
              <a:pathLst>
                <a:path w="23589585" h="13207715">
                  <a:moveTo>
                    <a:pt x="50428" y="0"/>
                  </a:moveTo>
                  <a:lnTo>
                    <a:pt x="23539157" y="0"/>
                  </a:lnTo>
                  <a:cubicBezTo>
                    <a:pt x="23567017" y="0"/>
                    <a:pt x="23589585" y="23941"/>
                    <a:pt x="23589585" y="53500"/>
                  </a:cubicBezTo>
                  <a:lnTo>
                    <a:pt x="23589585" y="13154216"/>
                  </a:lnTo>
                  <a:cubicBezTo>
                    <a:pt x="23589585" y="13183774"/>
                    <a:pt x="23567017" y="13207715"/>
                    <a:pt x="23539157" y="13207715"/>
                  </a:cubicBezTo>
                  <a:lnTo>
                    <a:pt x="50428" y="13207715"/>
                  </a:lnTo>
                  <a:cubicBezTo>
                    <a:pt x="22567" y="13207715"/>
                    <a:pt x="0" y="13183774"/>
                    <a:pt x="0" y="13154216"/>
                  </a:cubicBezTo>
                  <a:lnTo>
                    <a:pt x="0" y="53500"/>
                  </a:lnTo>
                  <a:cubicBezTo>
                    <a:pt x="0" y="23941"/>
                    <a:pt x="22567" y="0"/>
                    <a:pt x="50428" y="0"/>
                  </a:cubicBezTo>
                  <a:moveTo>
                    <a:pt x="50428" y="106999"/>
                  </a:moveTo>
                  <a:lnTo>
                    <a:pt x="50428" y="53500"/>
                  </a:lnTo>
                  <a:lnTo>
                    <a:pt x="100857" y="53500"/>
                  </a:lnTo>
                  <a:lnTo>
                    <a:pt x="100857" y="13154216"/>
                  </a:lnTo>
                  <a:lnTo>
                    <a:pt x="50428" y="13154216"/>
                  </a:lnTo>
                  <a:lnTo>
                    <a:pt x="50428" y="13100715"/>
                  </a:lnTo>
                  <a:lnTo>
                    <a:pt x="23539157" y="13100715"/>
                  </a:lnTo>
                  <a:lnTo>
                    <a:pt x="23539157" y="13154216"/>
                  </a:lnTo>
                  <a:lnTo>
                    <a:pt x="23488729" y="13154216"/>
                  </a:lnTo>
                  <a:lnTo>
                    <a:pt x="23488729" y="53500"/>
                  </a:lnTo>
                  <a:lnTo>
                    <a:pt x="23539157" y="53500"/>
                  </a:lnTo>
                  <a:lnTo>
                    <a:pt x="23539157" y="106999"/>
                  </a:lnTo>
                  <a:lnTo>
                    <a:pt x="50428" y="106999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7">
            <a:extLst>
              <a:ext uri="{FF2B5EF4-FFF2-40B4-BE49-F238E27FC236}">
                <a16:creationId xmlns:a16="http://schemas.microsoft.com/office/drawing/2014/main" id="{7F73AF29-468D-2901-E364-51E8776E1FCA}"/>
              </a:ext>
            </a:extLst>
          </p:cNvPr>
          <p:cNvGrpSpPr/>
          <p:nvPr/>
        </p:nvGrpSpPr>
        <p:grpSpPr>
          <a:xfrm>
            <a:off x="686331" y="1773517"/>
            <a:ext cx="441275" cy="441275"/>
            <a:chOff x="0" y="0"/>
            <a:chExt cx="588367" cy="588367"/>
          </a:xfrm>
          <a:solidFill>
            <a:schemeClr val="tx1"/>
          </a:solidFill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4C45577D-7E14-2A1A-EBE4-07EF44225AC3}"/>
                </a:ext>
              </a:extLst>
            </p:cNvPr>
            <p:cNvSpPr/>
            <p:nvPr/>
          </p:nvSpPr>
          <p:spPr>
            <a:xfrm>
              <a:off x="6350" y="6350"/>
              <a:ext cx="575564" cy="575564"/>
            </a:xfrm>
            <a:custGeom>
              <a:avLst/>
              <a:gdLst/>
              <a:ahLst/>
              <a:cxnLst/>
              <a:rect l="l" t="t" r="r" b="b"/>
              <a:pathLst>
                <a:path w="575564" h="575564">
                  <a:moveTo>
                    <a:pt x="0" y="107442"/>
                  </a:moveTo>
                  <a:cubicBezTo>
                    <a:pt x="0" y="48133"/>
                    <a:pt x="48133" y="0"/>
                    <a:pt x="107442" y="0"/>
                  </a:cubicBezTo>
                  <a:lnTo>
                    <a:pt x="468122" y="0"/>
                  </a:lnTo>
                  <a:cubicBezTo>
                    <a:pt x="527431" y="0"/>
                    <a:pt x="575564" y="48133"/>
                    <a:pt x="575564" y="107442"/>
                  </a:cubicBezTo>
                  <a:lnTo>
                    <a:pt x="575564" y="468122"/>
                  </a:lnTo>
                  <a:cubicBezTo>
                    <a:pt x="575564" y="527431"/>
                    <a:pt x="527431" y="575564"/>
                    <a:pt x="468122" y="575564"/>
                  </a:cubicBezTo>
                  <a:lnTo>
                    <a:pt x="107442" y="575564"/>
                  </a:lnTo>
                  <a:cubicBezTo>
                    <a:pt x="48133" y="575691"/>
                    <a:pt x="0" y="527558"/>
                    <a:pt x="0" y="46812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CC184838-007A-D0F3-DA75-CC3F6F7C057A}"/>
                </a:ext>
              </a:extLst>
            </p:cNvPr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lnTo>
                    <a:pt x="474472" y="6350"/>
                  </a:lnTo>
                  <a:lnTo>
                    <a:pt x="474472" y="0"/>
                  </a:lnTo>
                  <a:cubicBezTo>
                    <a:pt x="537337" y="0"/>
                    <a:pt x="588264" y="50927"/>
                    <a:pt x="588264" y="113792"/>
                  </a:cubicBezTo>
                  <a:lnTo>
                    <a:pt x="581914" y="113792"/>
                  </a:lnTo>
                  <a:lnTo>
                    <a:pt x="588264" y="113792"/>
                  </a:lnTo>
                  <a:lnTo>
                    <a:pt x="588264" y="474472"/>
                  </a:lnTo>
                  <a:lnTo>
                    <a:pt x="581914" y="474472"/>
                  </a:lnTo>
                  <a:lnTo>
                    <a:pt x="588264" y="474472"/>
                  </a:lnTo>
                  <a:cubicBezTo>
                    <a:pt x="588264" y="537337"/>
                    <a:pt x="537337" y="588264"/>
                    <a:pt x="474472" y="588264"/>
                  </a:cubicBezTo>
                  <a:lnTo>
                    <a:pt x="474472" y="581914"/>
                  </a:lnTo>
                  <a:lnTo>
                    <a:pt x="474472" y="588264"/>
                  </a:lnTo>
                  <a:lnTo>
                    <a:pt x="113792" y="588264"/>
                  </a:lnTo>
                  <a:lnTo>
                    <a:pt x="113792" y="581914"/>
                  </a:lnTo>
                  <a:lnTo>
                    <a:pt x="113792" y="588264"/>
                  </a:lnTo>
                  <a:cubicBezTo>
                    <a:pt x="50927" y="588391"/>
                    <a:pt x="0" y="537337"/>
                    <a:pt x="0" y="474472"/>
                  </a:cubicBezTo>
                  <a:lnTo>
                    <a:pt x="0" y="113792"/>
                  </a:lnTo>
                  <a:lnTo>
                    <a:pt x="6350" y="113792"/>
                  </a:lnTo>
                  <a:lnTo>
                    <a:pt x="0" y="113792"/>
                  </a:lnTo>
                  <a:moveTo>
                    <a:pt x="12700" y="113792"/>
                  </a:moveTo>
                  <a:lnTo>
                    <a:pt x="12700" y="474472"/>
                  </a:lnTo>
                  <a:lnTo>
                    <a:pt x="6350" y="474472"/>
                  </a:lnTo>
                  <a:lnTo>
                    <a:pt x="12700" y="474472"/>
                  </a:lnTo>
                  <a:cubicBezTo>
                    <a:pt x="12700" y="530352"/>
                    <a:pt x="58039" y="575564"/>
                    <a:pt x="113792" y="575564"/>
                  </a:cubicBezTo>
                  <a:lnTo>
                    <a:pt x="474472" y="575564"/>
                  </a:lnTo>
                  <a:cubicBezTo>
                    <a:pt x="530352" y="575564"/>
                    <a:pt x="575564" y="530225"/>
                    <a:pt x="575564" y="474472"/>
                  </a:cubicBezTo>
                  <a:lnTo>
                    <a:pt x="575564" y="113792"/>
                  </a:lnTo>
                  <a:cubicBezTo>
                    <a:pt x="575564" y="57912"/>
                    <a:pt x="530225" y="12700"/>
                    <a:pt x="474472" y="12700"/>
                  </a:cubicBezTo>
                  <a:lnTo>
                    <a:pt x="113792" y="12700"/>
                  </a:lnTo>
                  <a:lnTo>
                    <a:pt x="113792" y="6350"/>
                  </a:lnTo>
                  <a:lnTo>
                    <a:pt x="113792" y="12700"/>
                  </a:lnTo>
                  <a:cubicBezTo>
                    <a:pt x="58039" y="12700"/>
                    <a:pt x="12700" y="58039"/>
                    <a:pt x="12700" y="11379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Freeform 8">
            <a:extLst>
              <a:ext uri="{FF2B5EF4-FFF2-40B4-BE49-F238E27FC236}">
                <a16:creationId xmlns:a16="http://schemas.microsoft.com/office/drawing/2014/main" id="{B42A671B-4C20-7BC9-467F-4E2B7F25336F}"/>
              </a:ext>
            </a:extLst>
          </p:cNvPr>
          <p:cNvSpPr/>
          <p:nvPr/>
        </p:nvSpPr>
        <p:spPr>
          <a:xfrm>
            <a:off x="695933" y="3571987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F3297E92-147A-74CB-FD87-A9406F3736A6}"/>
              </a:ext>
            </a:extLst>
          </p:cNvPr>
          <p:cNvSpPr/>
          <p:nvPr/>
        </p:nvSpPr>
        <p:spPr>
          <a:xfrm>
            <a:off x="695933" y="4816557"/>
            <a:ext cx="431673" cy="431673"/>
          </a:xfrm>
          <a:custGeom>
            <a:avLst/>
            <a:gdLst/>
            <a:ahLst/>
            <a:cxnLst/>
            <a:rect l="l" t="t" r="r" b="b"/>
            <a:pathLst>
              <a:path w="575564" h="575564">
                <a:moveTo>
                  <a:pt x="0" y="107442"/>
                </a:moveTo>
                <a:cubicBezTo>
                  <a:pt x="0" y="48133"/>
                  <a:pt x="48133" y="0"/>
                  <a:pt x="107442" y="0"/>
                </a:cubicBezTo>
                <a:lnTo>
                  <a:pt x="468122" y="0"/>
                </a:lnTo>
                <a:cubicBezTo>
                  <a:pt x="527431" y="0"/>
                  <a:pt x="575564" y="48133"/>
                  <a:pt x="575564" y="107442"/>
                </a:cubicBezTo>
                <a:lnTo>
                  <a:pt x="575564" y="468122"/>
                </a:lnTo>
                <a:cubicBezTo>
                  <a:pt x="575564" y="527431"/>
                  <a:pt x="527431" y="575564"/>
                  <a:pt x="468122" y="575564"/>
                </a:cubicBezTo>
                <a:lnTo>
                  <a:pt x="107442" y="575564"/>
                </a:lnTo>
                <a:cubicBezTo>
                  <a:pt x="48133" y="575691"/>
                  <a:pt x="0" y="527558"/>
                  <a:pt x="0" y="468122"/>
                </a:cubicBez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FEC5018D-25EB-0872-7567-F9680F8D6825}"/>
              </a:ext>
            </a:extLst>
          </p:cNvPr>
          <p:cNvGrpSpPr>
            <a:grpSpLocks noChangeAspect="1"/>
          </p:cNvGrpSpPr>
          <p:nvPr/>
        </p:nvGrpSpPr>
        <p:grpSpPr>
          <a:xfrm>
            <a:off x="15015534" y="311734"/>
            <a:ext cx="2511210" cy="1287881"/>
            <a:chOff x="0" y="0"/>
            <a:chExt cx="3649634" cy="1871726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3CFCE653-E3A2-9861-39D2-46816266FA8B}"/>
                </a:ext>
              </a:extLst>
            </p:cNvPr>
            <p:cNvSpPr/>
            <p:nvPr/>
          </p:nvSpPr>
          <p:spPr>
            <a:xfrm>
              <a:off x="0" y="0"/>
              <a:ext cx="3649599" cy="1871726"/>
            </a:xfrm>
            <a:custGeom>
              <a:avLst/>
              <a:gdLst/>
              <a:ahLst/>
              <a:cxnLst/>
              <a:rect l="l" t="t" r="r" b="b"/>
              <a:pathLst>
                <a:path w="3649599" h="1871726">
                  <a:moveTo>
                    <a:pt x="0" y="0"/>
                  </a:moveTo>
                  <a:lnTo>
                    <a:pt x="3649599" y="0"/>
                  </a:lnTo>
                  <a:lnTo>
                    <a:pt x="3649599" y="1871726"/>
                  </a:lnTo>
                  <a:lnTo>
                    <a:pt x="0" y="1871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0" r="-9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8F3316D7-1697-1AEB-539E-CFB7A787AB1E}"/>
              </a:ext>
            </a:extLst>
          </p:cNvPr>
          <p:cNvSpPr/>
          <p:nvPr/>
        </p:nvSpPr>
        <p:spPr>
          <a:xfrm>
            <a:off x="673107" y="345148"/>
            <a:ext cx="2298694" cy="83356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5000" dirty="0"/>
              <a:t>XLR8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EA55EB-D094-33CB-F6DD-837DE6228544}"/>
              </a:ext>
            </a:extLst>
          </p:cNvPr>
          <p:cNvSpPr txBox="1"/>
          <p:nvPr/>
        </p:nvSpPr>
        <p:spPr>
          <a:xfrm>
            <a:off x="683455" y="6117342"/>
            <a:ext cx="16464468" cy="395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28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Open Government Data Platform India (OGD)- 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3"/>
              </a:rPr>
              <a:t>https://data.gov.in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2800" b="1" dirty="0" err="1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MyScheme</a:t>
            </a:r>
            <a:r>
              <a:rPr lang="en-US" sz="28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–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for browsing, filtering, and checking eligibility 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4"/>
              </a:rPr>
              <a:t>https://www.myscheme.gov.in</a:t>
            </a:r>
            <a:endParaRPr lang="en-US" sz="2800" dirty="0">
              <a:solidFill>
                <a:srgbClr val="272525"/>
              </a:solidFill>
              <a:latin typeface="Times New Roman"/>
              <a:cs typeface="Times New Roman"/>
              <a:sym typeface="Times New Roman"/>
            </a:endParaRPr>
          </a:p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28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Google Research – 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Speech &amp; Language Team Research on speech-to-text, multilingual NLP, and voice-based interaction models relevant to vernacular voice search. 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5"/>
              </a:rPr>
              <a:t>https://research.google/teams/language</a:t>
            </a:r>
            <a:endParaRPr lang="en-US" sz="2800" dirty="0">
              <a:solidFill>
                <a:srgbClr val="272525"/>
              </a:solidFill>
              <a:latin typeface="Times New Roman"/>
              <a:cs typeface="Times New Roman"/>
              <a:sym typeface="Times New Roman"/>
            </a:endParaRPr>
          </a:p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28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Whimsical – 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Flowchart &amp; Diagram Tool for the project. 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6"/>
              </a:rPr>
              <a:t>https://whimsical.com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514350" indent="-514350">
              <a:lnSpc>
                <a:spcPts val="3799"/>
              </a:lnSpc>
              <a:buAutoNum type="arabicPeriod"/>
            </a:pPr>
            <a:r>
              <a:rPr lang="en-US" sz="2800" b="1" dirty="0" err="1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LLaMA</a:t>
            </a:r>
            <a:r>
              <a:rPr lang="en-US" sz="2800" b="1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3.1 – 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Large Language Model Reference architecture for the AI/LLM component used in scheme matching and Q&amp;A. 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  <a:hlinkClick r:id="rId7"/>
              </a:rPr>
              <a:t>https://ai.meta.com/llama</a:t>
            </a:r>
            <a:r>
              <a:rPr lang="en-US" sz="2800" dirty="0">
                <a:solidFill>
                  <a:srgbClr val="272525"/>
                </a:solidFill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algn="r">
              <a:lnSpc>
                <a:spcPts val="3799"/>
              </a:lnSpc>
            </a:pPr>
            <a:r>
              <a:rPr lang="en-US" sz="24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Thankyou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7B5F08-60DA-337B-B876-E4B74AAA2814}"/>
              </a:ext>
            </a:extLst>
          </p:cNvPr>
          <p:cNvSpPr txBox="1"/>
          <p:nvPr/>
        </p:nvSpPr>
        <p:spPr>
          <a:xfrm>
            <a:off x="1214676" y="2275881"/>
            <a:ext cx="164644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Suman Tripathi/       </a:t>
            </a:r>
            <a:r>
              <a:rPr lang="en-US" sz="2400" dirty="0"/>
              <a:t>UI-UX Designer</a:t>
            </a:r>
            <a:r>
              <a:rPr lang="en-IN" sz="2400" dirty="0"/>
              <a:t>: Designed user flows, wireframes and high-fidelity interfaces</a:t>
            </a:r>
          </a:p>
          <a:p>
            <a:r>
              <a:rPr lang="en-IN" sz="2400" b="1" dirty="0"/>
              <a:t>Sanidhya Suman/   </a:t>
            </a:r>
            <a:r>
              <a:rPr lang="en-IN" sz="2400" dirty="0"/>
              <a:t>Web Dev&amp; Data Analyst: Worked on Govt. scheme Research, AI workflow mapping and Data Structuring</a:t>
            </a:r>
          </a:p>
          <a:p>
            <a:r>
              <a:rPr lang="en-IN" sz="2400" b="1" dirty="0"/>
              <a:t>Shyamjyoti Sarkar/ </a:t>
            </a:r>
            <a:r>
              <a:rPr lang="en-IN" sz="2400" dirty="0"/>
              <a:t>ML</a:t>
            </a:r>
            <a:r>
              <a:rPr lang="en-IN" sz="2400" b="1" dirty="0"/>
              <a:t> ,</a:t>
            </a:r>
            <a:r>
              <a:rPr lang="en-IN" sz="2400" dirty="0"/>
              <a:t> Web Developer: Built Functional Screens, interactions and integrated UI with workflow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3250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</TotalTime>
  <Words>710</Words>
  <Application>Microsoft Office PowerPoint</Application>
  <PresentationFormat>Custom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Aptos</vt:lpstr>
      <vt:lpstr>Arial Black</vt:lpstr>
      <vt:lpstr>Telegraf Bold</vt:lpstr>
      <vt:lpstr>Times New Roman</vt:lpstr>
      <vt:lpstr>Times New Roman Bold</vt:lpstr>
      <vt:lpstr>Aptos Display</vt:lpstr>
      <vt:lpstr>Times New Roman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Healthcare &amp; Wellbeing</dc:title>
  <dc:creator>Sanidhya Suman</dc:creator>
  <dc:description>Presentation - Healthcare &amp; Wellbeing</dc:description>
  <cp:lastModifiedBy>shyamjyoti sarkar</cp:lastModifiedBy>
  <cp:revision>9</cp:revision>
  <dcterms:created xsi:type="dcterms:W3CDTF">2006-08-16T00:00:00Z</dcterms:created>
  <dcterms:modified xsi:type="dcterms:W3CDTF">2025-11-28T18:09:41Z</dcterms:modified>
  <dc:identifier>DAG5G8JPgxg</dc:identifier>
</cp:coreProperties>
</file>