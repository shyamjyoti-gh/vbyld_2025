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49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0" r:id="rId6"/>
    <p:sldId id="263" r:id="rId7"/>
  </p:sldIdLst>
  <p:sldSz cx="18288000" cy="10287000"/>
  <p:notesSz cx="6858000" cy="9144000"/>
  <p:embeddedFontLst>
    <p:embeddedFont>
      <p:font typeface="Canva Sans" panose="020B0604020202020204" charset="0"/>
      <p:regular r:id="rId9"/>
    </p:embeddedFont>
    <p:embeddedFont>
      <p:font typeface="Telegraf Bold" panose="020B0604020202020204" charset="0"/>
      <p:regular r:id="rId10"/>
    </p:embeddedFont>
    <p:embeddedFont>
      <p:font typeface="Times New Roman Bold" panose="02020803070505020304" pitchFamily="18" charset="0"/>
      <p:regular r:id="rId11"/>
      <p:bold r:id="rId12"/>
    </p:embeddedFont>
    <p:embeddedFont>
      <p:font typeface="Times New Roman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2175E5-3CF7-4CD4-BB20-0D9978122B5C}" v="1" dt="2025-11-20T07:26:24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67AFA-13E0-468D-A477-B75864571F1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07065-EAB6-4D84-80EF-A624D6294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966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07065-EAB6-4D84-80EF-A624D629497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650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A998-8EBF-C330-F855-8F624F50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8B2EA-77BA-66B1-EBEE-F667381E2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04208-9E18-2B04-2C0C-FD94AA092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DEE8F-7F71-C232-BB49-DA8563DFF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07065-EAB6-4D84-80EF-A624D629497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830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93239-CBBD-BBAF-42B1-799D1C095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59AE2-37EF-1956-64BB-859B257A3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7326E-A551-F53F-BA08-95408E4C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8C27A-D546-8E1D-3EEA-9E1627630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4FE5A-DFDF-4798-DBEC-FC782D81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4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D0DFF-B167-0657-5AC3-80528DD9A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46F45-834F-AE43-C1B9-1D9C15FF8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5034A-9254-61CB-2938-709E980B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EE835-D58E-8B7C-0638-4AF52E3DD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77A63-C4D5-B8A0-2D01-CA0CFAA5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6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498C-7734-E148-7B09-F4A1EC798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C6EFD-7ECC-7C84-3891-172D2A4AC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6458D-AFE4-CA7C-5073-C83A4A06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05CBC-0E29-E856-3E82-46B31C73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4764A-41C7-2F1B-FF32-1EFFF0E69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93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CC63-99F9-F675-2535-C3A8F118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7B7DF-5198-E4C9-69FF-DA3CEE12E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AF6FA-E581-011C-BBA2-9F6685709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F28DC-4E5B-F01E-D094-6D04C5C72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5F244-F123-6640-CCA9-EBA9EF12C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F0BBD-AD51-FE9C-C8C0-DC4FC09D3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01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DD833-9F18-9873-AFEA-267BD7016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59956-FFD0-63EC-C978-353A0D8FF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CFA7B-FF2D-6736-B31B-621A275B3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67E8C-6C20-4048-C867-384639FC3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297A4-D572-7E08-CEE4-8CA142F8C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E9A59-5256-567B-5D91-8C404AA70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B1103B-5961-CBA5-3E9A-B923C5E5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46BA61-D233-FFE9-5719-E7CE2195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22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7986-540D-70E3-E6FC-9E8C67E0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839C8-0240-F68F-143A-E187A0D87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50BED9-69CC-E22B-B877-2A4CAADF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D8197-7F6F-C188-0BF0-026D12164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5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80CC37-20B4-189C-AE8D-FC970A88F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A2522-8E80-46CF-0EC0-F9701796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EE8BA-B7E3-AC82-7D84-861453AD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92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42799-8064-6C05-C37C-776F3A64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9AC24-B03D-741C-D280-50A979E90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259E5-2F85-4BC9-5501-6B8B06159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F4957-7771-6084-E078-4C9D815D3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71D77-C48A-5B9E-DFA2-FF41834E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6A4CA-4A82-FB48-15F0-31A228A9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7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08D-7534-143A-0097-9905BC428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87EAAC-A09A-F468-D1FD-9CFDABCB2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C3EDA-C6D1-6BDD-8AE1-99F11DC31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32AC2-FB4F-99C8-07F8-B35B111C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FF734-83CB-6C69-0164-3F68A21E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C1FC4-BE83-354B-7940-A90564A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D5FA2-2288-2E93-7B58-A414F604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18714-D55F-FC9B-B7EF-6216DDD23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4396B-B1ED-83DA-6485-179AC6D69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1878B-A5A5-04C4-379A-B0208064B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9DEAF-D286-ECE8-7B22-EC609B19E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0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3A0701-5F87-F766-CA4E-C1522A4B26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9BA63-88CB-1D7C-9CFB-3BF4114C6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455FC-4069-E052-9D89-DA33ADB9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114EF-D4AE-4DC2-5242-FC32DF12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D712A-71E5-06A5-17F2-21D55ABB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6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C5CA1-A39E-C987-1A37-B6BD20037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2266-807F-7450-51E8-74D3B8886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992CA-8346-CF17-8B1C-AB16F795B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5C463-33E7-FA83-A87F-13F784316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10FE2-076A-B12A-49B2-9FF5FD370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53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i.meta.com/llama" TargetMode="External"/><Relationship Id="rId3" Type="http://schemas.openxmlformats.org/officeDocument/2006/relationships/image" Target="../media/image7.png"/><Relationship Id="rId7" Type="http://schemas.openxmlformats.org/officeDocument/2006/relationships/hyperlink" Target="https://whimsical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esearch.google/teams/language" TargetMode="External"/><Relationship Id="rId5" Type="http://schemas.openxmlformats.org/officeDocument/2006/relationships/hyperlink" Target="https://www.myscheme.gov.in/" TargetMode="External"/><Relationship Id="rId4" Type="http://schemas.openxmlformats.org/officeDocument/2006/relationships/hyperlink" Target="https://data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124801" y="-8371379"/>
            <a:ext cx="2067895" cy="18288000"/>
            <a:chOff x="0" y="0"/>
            <a:chExt cx="544631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4631" cy="4816592"/>
            </a:xfrm>
            <a:custGeom>
              <a:avLst/>
              <a:gdLst/>
              <a:ahLst/>
              <a:cxnLst/>
              <a:rect l="l" t="t" r="r" b="b"/>
              <a:pathLst>
                <a:path w="544631" h="4816592">
                  <a:moveTo>
                    <a:pt x="0" y="0"/>
                  </a:moveTo>
                  <a:lnTo>
                    <a:pt x="544631" y="0"/>
                  </a:lnTo>
                  <a:lnTo>
                    <a:pt x="54463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1A73E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544631" cy="4892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93692" y="315617"/>
            <a:ext cx="2778045" cy="1426165"/>
          </a:xfrm>
          <a:custGeom>
            <a:avLst/>
            <a:gdLst/>
            <a:ahLst/>
            <a:cxnLst/>
            <a:rect l="l" t="t" r="r" b="b"/>
            <a:pathLst>
              <a:path w="2778045" h="1426165">
                <a:moveTo>
                  <a:pt x="0" y="0"/>
                </a:moveTo>
                <a:lnTo>
                  <a:pt x="2778045" y="0"/>
                </a:lnTo>
                <a:lnTo>
                  <a:pt x="2778045" y="1426166"/>
                </a:lnTo>
                <a:lnTo>
                  <a:pt x="0" y="1426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4" r="-53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5996158" y="254425"/>
            <a:ext cx="9265217" cy="1667739"/>
          </a:xfrm>
          <a:custGeom>
            <a:avLst/>
            <a:gdLst/>
            <a:ahLst/>
            <a:cxnLst/>
            <a:rect l="l" t="t" r="r" b="b"/>
            <a:pathLst>
              <a:path w="9265217" h="1667739">
                <a:moveTo>
                  <a:pt x="0" y="0"/>
                </a:moveTo>
                <a:lnTo>
                  <a:pt x="9265217" y="0"/>
                </a:lnTo>
                <a:lnTo>
                  <a:pt x="9265217" y="1667740"/>
                </a:lnTo>
                <a:lnTo>
                  <a:pt x="0" y="1667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6236182" y="254425"/>
            <a:ext cx="1589460" cy="1667739"/>
          </a:xfrm>
          <a:custGeom>
            <a:avLst/>
            <a:gdLst/>
            <a:ahLst/>
            <a:cxnLst/>
            <a:rect l="l" t="t" r="r" b="b"/>
            <a:pathLst>
              <a:path w="1589460" h="1667739">
                <a:moveTo>
                  <a:pt x="0" y="0"/>
                </a:moveTo>
                <a:lnTo>
                  <a:pt x="1589459" y="0"/>
                </a:lnTo>
                <a:lnTo>
                  <a:pt x="1589459" y="1667740"/>
                </a:lnTo>
                <a:lnTo>
                  <a:pt x="0" y="1667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11" t="-615" r="-469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3177604" y="-268048"/>
            <a:ext cx="2712686" cy="2712686"/>
          </a:xfrm>
          <a:custGeom>
            <a:avLst/>
            <a:gdLst/>
            <a:ahLst/>
            <a:cxnLst/>
            <a:rect l="l" t="t" r="r" b="b"/>
            <a:pathLst>
              <a:path w="2712686" h="2712686">
                <a:moveTo>
                  <a:pt x="0" y="0"/>
                </a:moveTo>
                <a:lnTo>
                  <a:pt x="2712686" y="0"/>
                </a:lnTo>
                <a:lnTo>
                  <a:pt x="2712686" y="2712686"/>
                </a:lnTo>
                <a:lnTo>
                  <a:pt x="0" y="2712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0" y="2067895"/>
            <a:ext cx="18288000" cy="8364835"/>
          </a:xfrm>
          <a:custGeom>
            <a:avLst/>
            <a:gdLst/>
            <a:ahLst/>
            <a:cxnLst/>
            <a:rect l="l" t="t" r="r" b="b"/>
            <a:pathLst>
              <a:path w="18288000" h="8364835">
                <a:moveTo>
                  <a:pt x="0" y="0"/>
                </a:moveTo>
                <a:lnTo>
                  <a:pt x="18288000" y="0"/>
                </a:lnTo>
                <a:lnTo>
                  <a:pt x="18288000" y="8364836"/>
                </a:lnTo>
                <a:lnTo>
                  <a:pt x="0" y="83648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</a:blip>
            <a:stretch>
              <a:fillRect t="-10018" b="-1001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9144000" y="3459027"/>
            <a:ext cx="8115300" cy="4604603"/>
            <a:chOff x="0" y="-9525"/>
            <a:chExt cx="10820400" cy="613947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154225"/>
              <a:ext cx="10820400" cy="4975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50"/>
                </a:lnSpc>
              </a:pPr>
              <a:r>
                <a:rPr lang="en-US" sz="8773" b="1" spc="-87" dirty="0">
                  <a:solidFill>
                    <a:srgbClr val="0D47A1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Civic Technology &amp; Governance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0820400" cy="547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16"/>
                </a:lnSpc>
              </a:pPr>
              <a:r>
                <a:rPr lang="en-US" sz="2924" b="1" spc="-29" dirty="0" err="1">
                  <a:solidFill>
                    <a:srgbClr val="1A73E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SarkarSetu</a:t>
              </a:r>
              <a:r>
                <a:rPr lang="en-US" sz="2924" b="1" spc="-29" dirty="0">
                  <a:solidFill>
                    <a:srgbClr val="1A73E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:- Never Miss an Opportunity 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pic>
        <p:nvPicPr>
          <p:cNvPr id="23" name="Picture 22" descr="A logo of a hand and a circuit board&#10;&#10;AI-generated content may be incorrect.">
            <a:extLst>
              <a:ext uri="{FF2B5EF4-FFF2-40B4-BE49-F238E27FC236}">
                <a16:creationId xmlns:a16="http://schemas.microsoft.com/office/drawing/2014/main" id="{88578849-E671-CB38-6D66-06C586D387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5624" y="49530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3113" y="423461"/>
            <a:ext cx="1126553" cy="1435803"/>
          </a:xfrm>
          <a:custGeom>
            <a:avLst/>
            <a:gdLst/>
            <a:ahLst/>
            <a:cxnLst/>
            <a:rect l="l" t="t" r="r" b="b"/>
            <a:pathLst>
              <a:path w="1126553" h="1435803">
                <a:moveTo>
                  <a:pt x="0" y="0"/>
                </a:moveTo>
                <a:lnTo>
                  <a:pt x="1126553" y="0"/>
                </a:lnTo>
                <a:lnTo>
                  <a:pt x="1126553" y="1435803"/>
                </a:lnTo>
                <a:lnTo>
                  <a:pt x="0" y="1435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714337" y="1873129"/>
            <a:ext cx="16913524" cy="2381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6553201" y="685615"/>
            <a:ext cx="97536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25"/>
              </a:lnSpc>
            </a:pPr>
            <a:r>
              <a:rPr lang="en-US" sz="5932" b="1" spc="-59" dirty="0">
                <a:solidFill>
                  <a:srgbClr val="0D47A1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Introduction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522610" y="969978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757575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29485" y="4038736"/>
            <a:ext cx="441275" cy="441275"/>
            <a:chOff x="0" y="0"/>
            <a:chExt cx="588367" cy="588367"/>
          </a:xfrm>
          <a:solidFill>
            <a:schemeClr val="tx1"/>
          </a:solidFill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12035" y="3847551"/>
            <a:ext cx="6767790" cy="588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99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Personalized Scheme Delivery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12035" y="4432386"/>
            <a:ext cx="8560602" cy="437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AI-Driven matching to instantly find schemes based on user profile.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29485" y="5278257"/>
            <a:ext cx="441275" cy="441275"/>
            <a:chOff x="0" y="0"/>
            <a:chExt cx="588367" cy="588367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solidFill>
              <a:srgbClr val="CECEC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112034" y="5087072"/>
            <a:ext cx="7870165" cy="588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99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Vernacular Voice &amp; Text Assistance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12035" y="5671907"/>
            <a:ext cx="14689731" cy="454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Ask in any language – the understands and guides clearly.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9485" y="2858856"/>
            <a:ext cx="6767790" cy="78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00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platform focuses on: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12035" y="6335395"/>
            <a:ext cx="7489165" cy="588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99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Eligibility Check &amp; Ranking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12035" y="6920230"/>
            <a:ext cx="14689731" cy="454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scoring engine that ranks the most suitable schemes.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29485" y="6526580"/>
            <a:ext cx="441275" cy="441275"/>
            <a:chOff x="0" y="0"/>
            <a:chExt cx="588367" cy="588367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solidFill>
              <a:srgbClr val="CECEC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112035" y="7584441"/>
            <a:ext cx="7870164" cy="588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99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Simplified Application Guidance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12035" y="8169276"/>
            <a:ext cx="8605780" cy="454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steps, required documents, and direct links to apply fast.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29485" y="7823251"/>
            <a:ext cx="441275" cy="441275"/>
            <a:chOff x="0" y="0"/>
            <a:chExt cx="588367" cy="588367"/>
          </a:xfrm>
        </p:grpSpPr>
        <p:sp>
          <p:nvSpPr>
            <p:cNvPr id="26" name="Freeform 26"/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solidFill>
              <a:srgbClr val="CECEC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43561" y="9208771"/>
            <a:ext cx="16919964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8"/>
              </a:lnSpc>
              <a:spcBef>
                <a:spcPct val="0"/>
              </a:spcBef>
            </a:pPr>
            <a:r>
              <a:rPr lang="en-US" sz="2962" b="1" spc="-29" dirty="0">
                <a:latin typeface="Telegraf Bold"/>
                <a:ea typeface="Telegraf Bold"/>
                <a:cs typeface="Telegraf Bold"/>
                <a:sym typeface="Telegraf Bold"/>
              </a:rPr>
              <a:t>Empowering every citizen with clarity, access and confidence.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8243" y="2164310"/>
            <a:ext cx="16230600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5"/>
              </a:lnSpc>
              <a:spcBef>
                <a:spcPct val="0"/>
              </a:spcBef>
            </a:pPr>
            <a:r>
              <a:rPr lang="en-US" sz="2841" b="1" spc="-28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Connecting Every Citizen to the Right Government Scheme – Instinctively, Instantly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319223" y="114300"/>
            <a:ext cx="17568628" cy="9950713"/>
            <a:chOff x="0" y="0"/>
            <a:chExt cx="23526377" cy="1303921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526395" cy="13039207"/>
            </a:xfrm>
            <a:custGeom>
              <a:avLst/>
              <a:gdLst/>
              <a:ahLst/>
              <a:cxnLst/>
              <a:rect l="l" t="t" r="r" b="b"/>
              <a:pathLst>
                <a:path w="23526395" h="13039207">
                  <a:moveTo>
                    <a:pt x="50293" y="0"/>
                  </a:moveTo>
                  <a:lnTo>
                    <a:pt x="23476102" y="0"/>
                  </a:lnTo>
                  <a:cubicBezTo>
                    <a:pt x="23503888" y="0"/>
                    <a:pt x="23526395" y="23636"/>
                    <a:pt x="23526395" y="52817"/>
                  </a:cubicBezTo>
                  <a:lnTo>
                    <a:pt x="23526395" y="12986390"/>
                  </a:lnTo>
                  <a:cubicBezTo>
                    <a:pt x="23526395" y="13015573"/>
                    <a:pt x="23503888" y="13039207"/>
                    <a:pt x="23476102" y="13039207"/>
                  </a:cubicBezTo>
                  <a:lnTo>
                    <a:pt x="50293" y="13039207"/>
                  </a:lnTo>
                  <a:cubicBezTo>
                    <a:pt x="22506" y="13039207"/>
                    <a:pt x="0" y="13015573"/>
                    <a:pt x="0" y="12986390"/>
                  </a:cubicBezTo>
                  <a:lnTo>
                    <a:pt x="0" y="52817"/>
                  </a:lnTo>
                  <a:cubicBezTo>
                    <a:pt x="0" y="23636"/>
                    <a:pt x="22506" y="0"/>
                    <a:pt x="50293" y="0"/>
                  </a:cubicBezTo>
                  <a:moveTo>
                    <a:pt x="50293" y="105634"/>
                  </a:moveTo>
                  <a:lnTo>
                    <a:pt x="50293" y="52817"/>
                  </a:lnTo>
                  <a:lnTo>
                    <a:pt x="100586" y="52817"/>
                  </a:lnTo>
                  <a:lnTo>
                    <a:pt x="100586" y="12986390"/>
                  </a:lnTo>
                  <a:lnTo>
                    <a:pt x="50293" y="12986390"/>
                  </a:lnTo>
                  <a:lnTo>
                    <a:pt x="50293" y="12933573"/>
                  </a:lnTo>
                  <a:lnTo>
                    <a:pt x="23476102" y="12933573"/>
                  </a:lnTo>
                  <a:lnTo>
                    <a:pt x="23476102" y="12986390"/>
                  </a:lnTo>
                  <a:lnTo>
                    <a:pt x="23425809" y="12986390"/>
                  </a:lnTo>
                  <a:lnTo>
                    <a:pt x="23425809" y="52817"/>
                  </a:lnTo>
                  <a:lnTo>
                    <a:pt x="23476102" y="52817"/>
                  </a:lnTo>
                  <a:lnTo>
                    <a:pt x="23476102" y="105634"/>
                  </a:lnTo>
                  <a:lnTo>
                    <a:pt x="50293" y="105634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3" name="Group 7">
            <a:extLst>
              <a:ext uri="{FF2B5EF4-FFF2-40B4-BE49-F238E27FC236}">
                <a16:creationId xmlns:a16="http://schemas.microsoft.com/office/drawing/2014/main" id="{05C70B7F-929A-DE32-A5E5-07FC4EE063BD}"/>
              </a:ext>
            </a:extLst>
          </p:cNvPr>
          <p:cNvGrpSpPr/>
          <p:nvPr/>
        </p:nvGrpSpPr>
        <p:grpSpPr>
          <a:xfrm>
            <a:off x="1234246" y="5296695"/>
            <a:ext cx="441275" cy="441275"/>
            <a:chOff x="0" y="0"/>
            <a:chExt cx="588367" cy="588367"/>
          </a:xfrm>
          <a:solidFill>
            <a:schemeClr val="tx1"/>
          </a:solidFill>
        </p:grpSpPr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7FB4507-6D1A-FD22-F89C-58C3BE654B68}"/>
                </a:ext>
              </a:extLst>
            </p:cNvPr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9959936-33B5-3E3A-6EF8-409DBFC0BA20}"/>
                </a:ext>
              </a:extLst>
            </p:cNvPr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" name="Group 7">
            <a:extLst>
              <a:ext uri="{FF2B5EF4-FFF2-40B4-BE49-F238E27FC236}">
                <a16:creationId xmlns:a16="http://schemas.microsoft.com/office/drawing/2014/main" id="{F2580CDD-56FF-3E32-EA46-8034F6239E4E}"/>
              </a:ext>
            </a:extLst>
          </p:cNvPr>
          <p:cNvGrpSpPr/>
          <p:nvPr/>
        </p:nvGrpSpPr>
        <p:grpSpPr>
          <a:xfrm>
            <a:off x="1218677" y="6553091"/>
            <a:ext cx="441275" cy="441275"/>
            <a:chOff x="0" y="0"/>
            <a:chExt cx="588367" cy="588367"/>
          </a:xfrm>
          <a:solidFill>
            <a:schemeClr val="tx1"/>
          </a:solidFill>
        </p:grpSpPr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12EFBD9E-7FC1-A055-8382-616277B7214B}"/>
                </a:ext>
              </a:extLst>
            </p:cNvPr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60936725-F414-458F-988B-E9F657982A82}"/>
                </a:ext>
              </a:extLst>
            </p:cNvPr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7">
            <a:extLst>
              <a:ext uri="{FF2B5EF4-FFF2-40B4-BE49-F238E27FC236}">
                <a16:creationId xmlns:a16="http://schemas.microsoft.com/office/drawing/2014/main" id="{0CA083CD-A5D9-64C7-9A75-C3E398D3FE8F}"/>
              </a:ext>
            </a:extLst>
          </p:cNvPr>
          <p:cNvGrpSpPr/>
          <p:nvPr/>
        </p:nvGrpSpPr>
        <p:grpSpPr>
          <a:xfrm>
            <a:off x="1218677" y="7849083"/>
            <a:ext cx="441275" cy="441275"/>
            <a:chOff x="0" y="0"/>
            <a:chExt cx="588367" cy="588367"/>
          </a:xfrm>
          <a:solidFill>
            <a:schemeClr val="tx1"/>
          </a:solidFill>
        </p:grpSpPr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924E4ADA-7A75-5A00-8A81-45DBF045F0C2}"/>
                </a:ext>
              </a:extLst>
            </p:cNvPr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5C5FC904-33BD-066B-2236-158696813AF5}"/>
                </a:ext>
              </a:extLst>
            </p:cNvPr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0A221794-9832-EA09-03E9-2C420DC99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572" y="2688029"/>
            <a:ext cx="7157438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5679" y="462528"/>
            <a:ext cx="998414" cy="1272489"/>
          </a:xfrm>
          <a:custGeom>
            <a:avLst/>
            <a:gdLst/>
            <a:ahLst/>
            <a:cxnLst/>
            <a:rect l="l" t="t" r="r" b="b"/>
            <a:pathLst>
              <a:path w="998414" h="1272489">
                <a:moveTo>
                  <a:pt x="0" y="0"/>
                </a:moveTo>
                <a:lnTo>
                  <a:pt x="998415" y="0"/>
                </a:lnTo>
                <a:lnTo>
                  <a:pt x="998415" y="1272489"/>
                </a:lnTo>
                <a:lnTo>
                  <a:pt x="0" y="12724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714337" y="1873129"/>
            <a:ext cx="16913524" cy="2381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5601934" y="708570"/>
            <a:ext cx="8037866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25"/>
              </a:lnSpc>
            </a:pPr>
            <a:r>
              <a:rPr lang="en-US" sz="5932" b="1" spc="-59" dirty="0">
                <a:solidFill>
                  <a:srgbClr val="0D47A1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757575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8587" y="2061101"/>
            <a:ext cx="5290935" cy="588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99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Scattered Information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8587" y="2693385"/>
            <a:ext cx="9858375" cy="924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schemes are spread across multiple portals, formats, and departments, making it difficult for citizens to find accurate and updated details.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3839" y="3766090"/>
            <a:ext cx="7191375" cy="588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99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Language and Literacy Barriers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8586" y="4362766"/>
            <a:ext cx="9858375" cy="924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users struggle to understand scheme details due to complex terminology and lack of support in regional languages.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9258" y="5400864"/>
            <a:ext cx="8943975" cy="588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99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Unclear Eligibility &amp; Confusing Process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5933" y="7155180"/>
            <a:ext cx="7724775" cy="588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99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Overwhelming Digital Interfaces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9359" y="6051792"/>
            <a:ext cx="9397670" cy="924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Citizens often do not know which schemes they qualify for, what documents are required, or how to apply – leading to missed opportunities.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9359" y="7858507"/>
            <a:ext cx="9397670" cy="924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portals are difficult to navigate, especially for non-tech savvy users, causing frustration and low adoption.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04633" y="197553"/>
            <a:ext cx="17615816" cy="9863034"/>
            <a:chOff x="0" y="0"/>
            <a:chExt cx="23589567" cy="132077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589585" cy="13207715"/>
            </a:xfrm>
            <a:custGeom>
              <a:avLst/>
              <a:gdLst/>
              <a:ahLst/>
              <a:cxnLst/>
              <a:rect l="l" t="t" r="r" b="b"/>
              <a:pathLst>
                <a:path w="23589585" h="13207715">
                  <a:moveTo>
                    <a:pt x="50428" y="0"/>
                  </a:moveTo>
                  <a:lnTo>
                    <a:pt x="23539157" y="0"/>
                  </a:lnTo>
                  <a:cubicBezTo>
                    <a:pt x="23567017" y="0"/>
                    <a:pt x="23589585" y="23941"/>
                    <a:pt x="23589585" y="53500"/>
                  </a:cubicBezTo>
                  <a:lnTo>
                    <a:pt x="23589585" y="13154216"/>
                  </a:lnTo>
                  <a:cubicBezTo>
                    <a:pt x="23589585" y="13183774"/>
                    <a:pt x="23567017" y="13207715"/>
                    <a:pt x="23539157" y="13207715"/>
                  </a:cubicBezTo>
                  <a:lnTo>
                    <a:pt x="50428" y="13207715"/>
                  </a:lnTo>
                  <a:cubicBezTo>
                    <a:pt x="22567" y="13207715"/>
                    <a:pt x="0" y="13183774"/>
                    <a:pt x="0" y="13154216"/>
                  </a:cubicBezTo>
                  <a:lnTo>
                    <a:pt x="0" y="53500"/>
                  </a:lnTo>
                  <a:cubicBezTo>
                    <a:pt x="0" y="23941"/>
                    <a:pt x="22567" y="0"/>
                    <a:pt x="50428" y="0"/>
                  </a:cubicBezTo>
                  <a:moveTo>
                    <a:pt x="50428" y="106999"/>
                  </a:moveTo>
                  <a:lnTo>
                    <a:pt x="50428" y="53500"/>
                  </a:lnTo>
                  <a:lnTo>
                    <a:pt x="100857" y="53500"/>
                  </a:lnTo>
                  <a:lnTo>
                    <a:pt x="100857" y="13154216"/>
                  </a:lnTo>
                  <a:lnTo>
                    <a:pt x="50428" y="13154216"/>
                  </a:lnTo>
                  <a:lnTo>
                    <a:pt x="50428" y="13100715"/>
                  </a:lnTo>
                  <a:lnTo>
                    <a:pt x="23539157" y="13100715"/>
                  </a:lnTo>
                  <a:lnTo>
                    <a:pt x="23539157" y="13154216"/>
                  </a:lnTo>
                  <a:lnTo>
                    <a:pt x="23488729" y="13154216"/>
                  </a:lnTo>
                  <a:lnTo>
                    <a:pt x="23488729" y="53500"/>
                  </a:lnTo>
                  <a:lnTo>
                    <a:pt x="23539157" y="53500"/>
                  </a:lnTo>
                  <a:lnTo>
                    <a:pt x="23539157" y="106999"/>
                  </a:lnTo>
                  <a:lnTo>
                    <a:pt x="50428" y="106999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7">
            <a:extLst>
              <a:ext uri="{FF2B5EF4-FFF2-40B4-BE49-F238E27FC236}">
                <a16:creationId xmlns:a16="http://schemas.microsoft.com/office/drawing/2014/main" id="{EF31C9EE-F160-4F13-597E-C029B5F4CDB8}"/>
              </a:ext>
            </a:extLst>
          </p:cNvPr>
          <p:cNvGrpSpPr/>
          <p:nvPr/>
        </p:nvGrpSpPr>
        <p:grpSpPr>
          <a:xfrm>
            <a:off x="686408" y="2150336"/>
            <a:ext cx="441275" cy="441275"/>
            <a:chOff x="0" y="0"/>
            <a:chExt cx="588367" cy="588367"/>
          </a:xfrm>
          <a:solidFill>
            <a:schemeClr val="tx1"/>
          </a:solidFill>
        </p:grpSpPr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C337AD32-8B6E-18E1-2659-26FCAA1ADB9C}"/>
                </a:ext>
              </a:extLst>
            </p:cNvPr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4EA8197F-0153-6BA5-2359-568B04731943}"/>
                </a:ext>
              </a:extLst>
            </p:cNvPr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Freeform 8">
            <a:extLst>
              <a:ext uri="{FF2B5EF4-FFF2-40B4-BE49-F238E27FC236}">
                <a16:creationId xmlns:a16="http://schemas.microsoft.com/office/drawing/2014/main" id="{5DFF5E19-5079-C9BD-712F-A7FB567624D6}"/>
              </a:ext>
            </a:extLst>
          </p:cNvPr>
          <p:cNvSpPr/>
          <p:nvPr/>
        </p:nvSpPr>
        <p:spPr>
          <a:xfrm>
            <a:off x="686408" y="3840674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Freeform 8">
            <a:extLst>
              <a:ext uri="{FF2B5EF4-FFF2-40B4-BE49-F238E27FC236}">
                <a16:creationId xmlns:a16="http://schemas.microsoft.com/office/drawing/2014/main" id="{B85380D6-33BD-D1F2-77F6-6848E2422F29}"/>
              </a:ext>
            </a:extLst>
          </p:cNvPr>
          <p:cNvSpPr/>
          <p:nvPr/>
        </p:nvSpPr>
        <p:spPr>
          <a:xfrm>
            <a:off x="686408" y="5461145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91CDA8C3-401F-4D9C-4A1A-B923B6004429}"/>
              </a:ext>
            </a:extLst>
          </p:cNvPr>
          <p:cNvSpPr/>
          <p:nvPr/>
        </p:nvSpPr>
        <p:spPr>
          <a:xfrm>
            <a:off x="686408" y="7233591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9CFCE39-0B40-4269-AD6E-BE4925B8F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148" y="2171781"/>
            <a:ext cx="6639252" cy="63497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048B9-1E09-E537-9640-A77C01D8F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449D08-A830-53BB-CF6D-AA5DAFE2AAFC}"/>
              </a:ext>
            </a:extLst>
          </p:cNvPr>
          <p:cNvSpPr/>
          <p:nvPr/>
        </p:nvSpPr>
        <p:spPr>
          <a:xfrm>
            <a:off x="729085" y="436035"/>
            <a:ext cx="998413" cy="1053024"/>
          </a:xfrm>
          <a:custGeom>
            <a:avLst/>
            <a:gdLst/>
            <a:ahLst/>
            <a:cxnLst/>
            <a:rect l="l" t="t" r="r" b="b"/>
            <a:pathLst>
              <a:path w="998414" h="1272489">
                <a:moveTo>
                  <a:pt x="0" y="0"/>
                </a:moveTo>
                <a:lnTo>
                  <a:pt x="998415" y="0"/>
                </a:lnTo>
                <a:lnTo>
                  <a:pt x="998415" y="1272489"/>
                </a:lnTo>
                <a:lnTo>
                  <a:pt x="0" y="12724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01154C4-F6A5-DE54-D1A2-E4B93F28F215}"/>
              </a:ext>
            </a:extLst>
          </p:cNvPr>
          <p:cNvSpPr/>
          <p:nvPr/>
        </p:nvSpPr>
        <p:spPr>
          <a:xfrm flipV="1">
            <a:off x="729085" y="1593898"/>
            <a:ext cx="16797659" cy="4440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D171CF-0BFA-A4DE-1649-D725A5097028}"/>
              </a:ext>
            </a:extLst>
          </p:cNvPr>
          <p:cNvSpPr txBox="1"/>
          <p:nvPr/>
        </p:nvSpPr>
        <p:spPr>
          <a:xfrm>
            <a:off x="5795215" y="512251"/>
            <a:ext cx="8037866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25"/>
              </a:lnSpc>
            </a:pPr>
            <a:r>
              <a:rPr lang="en-US" sz="5932" b="1" spc="-59" dirty="0">
                <a:solidFill>
                  <a:srgbClr val="0D47A1"/>
                </a:solidFill>
                <a:latin typeface="Telegraf Bold"/>
                <a:ea typeface="Telegraf Bold"/>
                <a:cs typeface="Telegraf Bold"/>
                <a:sym typeface="Telegraf Bold"/>
              </a:rPr>
              <a:t>FLOW - DIAGRAM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4B0F61B-D9BB-DFF9-509D-AFE9D173B2AE}"/>
              </a:ext>
            </a:extLst>
          </p:cNvPr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757575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FC3837DC-3CFA-A83C-BCC7-A6D4FDC378D6}"/>
              </a:ext>
            </a:extLst>
          </p:cNvPr>
          <p:cNvGrpSpPr/>
          <p:nvPr/>
        </p:nvGrpSpPr>
        <p:grpSpPr>
          <a:xfrm>
            <a:off x="304633" y="197553"/>
            <a:ext cx="17615816" cy="9863034"/>
            <a:chOff x="0" y="0"/>
            <a:chExt cx="23589567" cy="13207717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04A0CBF-9FDD-9832-1ED3-3EB36BE1ABD5}"/>
                </a:ext>
              </a:extLst>
            </p:cNvPr>
            <p:cNvSpPr/>
            <p:nvPr/>
          </p:nvSpPr>
          <p:spPr>
            <a:xfrm>
              <a:off x="0" y="0"/>
              <a:ext cx="23589585" cy="13207715"/>
            </a:xfrm>
            <a:custGeom>
              <a:avLst/>
              <a:gdLst/>
              <a:ahLst/>
              <a:cxnLst/>
              <a:rect l="l" t="t" r="r" b="b"/>
              <a:pathLst>
                <a:path w="23589585" h="13207715">
                  <a:moveTo>
                    <a:pt x="50428" y="0"/>
                  </a:moveTo>
                  <a:lnTo>
                    <a:pt x="23539157" y="0"/>
                  </a:lnTo>
                  <a:cubicBezTo>
                    <a:pt x="23567017" y="0"/>
                    <a:pt x="23589585" y="23941"/>
                    <a:pt x="23589585" y="53500"/>
                  </a:cubicBezTo>
                  <a:lnTo>
                    <a:pt x="23589585" y="13154216"/>
                  </a:lnTo>
                  <a:cubicBezTo>
                    <a:pt x="23589585" y="13183774"/>
                    <a:pt x="23567017" y="13207715"/>
                    <a:pt x="23539157" y="13207715"/>
                  </a:cubicBezTo>
                  <a:lnTo>
                    <a:pt x="50428" y="13207715"/>
                  </a:lnTo>
                  <a:cubicBezTo>
                    <a:pt x="22567" y="13207715"/>
                    <a:pt x="0" y="13183774"/>
                    <a:pt x="0" y="13154216"/>
                  </a:cubicBezTo>
                  <a:lnTo>
                    <a:pt x="0" y="53500"/>
                  </a:lnTo>
                  <a:cubicBezTo>
                    <a:pt x="0" y="23941"/>
                    <a:pt x="22567" y="0"/>
                    <a:pt x="50428" y="0"/>
                  </a:cubicBezTo>
                  <a:moveTo>
                    <a:pt x="50428" y="106999"/>
                  </a:moveTo>
                  <a:lnTo>
                    <a:pt x="50428" y="53500"/>
                  </a:lnTo>
                  <a:lnTo>
                    <a:pt x="100857" y="53500"/>
                  </a:lnTo>
                  <a:lnTo>
                    <a:pt x="100857" y="13154216"/>
                  </a:lnTo>
                  <a:lnTo>
                    <a:pt x="50428" y="13154216"/>
                  </a:lnTo>
                  <a:lnTo>
                    <a:pt x="50428" y="13100715"/>
                  </a:lnTo>
                  <a:lnTo>
                    <a:pt x="23539157" y="13100715"/>
                  </a:lnTo>
                  <a:lnTo>
                    <a:pt x="23539157" y="13154216"/>
                  </a:lnTo>
                  <a:lnTo>
                    <a:pt x="23488729" y="13154216"/>
                  </a:lnTo>
                  <a:lnTo>
                    <a:pt x="23488729" y="53500"/>
                  </a:lnTo>
                  <a:lnTo>
                    <a:pt x="23539157" y="53500"/>
                  </a:lnTo>
                  <a:lnTo>
                    <a:pt x="23539157" y="106999"/>
                  </a:lnTo>
                  <a:lnTo>
                    <a:pt x="50428" y="106999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E61B734D-3571-D1A4-0445-CE838958F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77" y="1767870"/>
            <a:ext cx="11645023" cy="7237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B530CC-CCA3-FE5C-82AC-A798EC8F80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9050" y="3199918"/>
            <a:ext cx="5519759" cy="580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8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59167"/>
            <a:ext cx="1050652" cy="1339066"/>
          </a:xfrm>
          <a:custGeom>
            <a:avLst/>
            <a:gdLst/>
            <a:ahLst/>
            <a:cxnLst/>
            <a:rect l="l" t="t" r="r" b="b"/>
            <a:pathLst>
              <a:path w="1050652" h="1339066">
                <a:moveTo>
                  <a:pt x="0" y="0"/>
                </a:moveTo>
                <a:lnTo>
                  <a:pt x="1050652" y="0"/>
                </a:lnTo>
                <a:lnTo>
                  <a:pt x="1050652" y="1339066"/>
                </a:lnTo>
                <a:lnTo>
                  <a:pt x="0" y="1339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483614" y="1754984"/>
            <a:ext cx="16913524" cy="2381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5774957" y="708570"/>
            <a:ext cx="7255243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25"/>
              </a:lnSpc>
            </a:pPr>
            <a:r>
              <a:rPr lang="en-US" sz="5932" b="1" spc="-59" dirty="0">
                <a:solidFill>
                  <a:srgbClr val="0D47A1"/>
                </a:solidFill>
                <a:latin typeface="Telegraf Bold"/>
                <a:ea typeface="Telegraf Bold"/>
                <a:cs typeface="Telegraf Bold"/>
                <a:sym typeface="Telegraf Bold"/>
              </a:rPr>
              <a:t>Model Explanation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526420" y="96422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757575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7993" y="2469286"/>
            <a:ext cx="431674" cy="391981"/>
            <a:chOff x="0" y="0"/>
            <a:chExt cx="588367" cy="588367"/>
          </a:xfrm>
          <a:solidFill>
            <a:schemeClr val="accent5">
              <a:lumMod val="50000"/>
            </a:schemeClr>
          </a:solidFill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45321" y="2346114"/>
            <a:ext cx="7344865" cy="588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99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Profile Setup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2220" y="2908984"/>
            <a:ext cx="8223350" cy="437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Select language and enter basic details to build their profile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78843" y="3676368"/>
            <a:ext cx="431599" cy="391912"/>
            <a:chOff x="0" y="0"/>
            <a:chExt cx="588367" cy="588367"/>
          </a:xfrm>
          <a:solidFill>
            <a:schemeClr val="accent5">
              <a:lumMod val="50000"/>
            </a:schemeClr>
          </a:solidFill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699" y="3547978"/>
            <a:ext cx="7607470" cy="588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99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Query &amp; Intent Capture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7993" y="4098693"/>
            <a:ext cx="8991599" cy="437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ask their need (text/voice) &amp; the system understands the intent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699" y="4693329"/>
            <a:ext cx="8719935" cy="588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99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Powered Scheme Matching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7993" y="5257989"/>
            <a:ext cx="14689731" cy="454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analyses profile with schemes and ranks the best matches</a:t>
            </a:r>
          </a:p>
        </p:txBody>
      </p:sp>
      <p:sp>
        <p:nvSpPr>
          <p:cNvPr id="20" name="Freeform 20"/>
          <p:cNvSpPr/>
          <p:nvPr/>
        </p:nvSpPr>
        <p:spPr>
          <a:xfrm>
            <a:off x="488271" y="4786452"/>
            <a:ext cx="422208" cy="383384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2" name="TextBox 22"/>
          <p:cNvSpPr txBox="1"/>
          <p:nvPr/>
        </p:nvSpPr>
        <p:spPr>
          <a:xfrm>
            <a:off x="1028700" y="5897128"/>
            <a:ext cx="8719935" cy="588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99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Application Support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8904" y="6471244"/>
            <a:ext cx="7772395" cy="3361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58" lvl="1" indent="-259079" algn="l">
              <a:lnSpc>
                <a:spcPts val="3799"/>
              </a:lnSpc>
              <a:buFont typeface="Arial"/>
              <a:buChar char="•"/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Step-by-step instructions for filling the application</a:t>
            </a:r>
          </a:p>
          <a:p>
            <a:pPr marL="518158" lvl="1" indent="-259079" algn="l">
              <a:lnSpc>
                <a:spcPts val="3799"/>
              </a:lnSpc>
              <a:buFont typeface="Arial"/>
              <a:buChar char="•"/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required documents with format &amp; size guidelines.</a:t>
            </a:r>
          </a:p>
          <a:p>
            <a:pPr marL="518158" lvl="1" indent="-259079" algn="l">
              <a:lnSpc>
                <a:spcPts val="3799"/>
              </a:lnSpc>
              <a:buFont typeface="Arial"/>
              <a:buChar char="•"/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dates such as deadlines and verification timings.</a:t>
            </a:r>
          </a:p>
          <a:p>
            <a:pPr marL="518158" lvl="1" indent="-259079" algn="l">
              <a:lnSpc>
                <a:spcPts val="3799"/>
              </a:lnSpc>
              <a:buFont typeface="Arial"/>
              <a:buChar char="•"/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Nearest office locations with work hours and contact details.</a:t>
            </a:r>
          </a:p>
          <a:p>
            <a:pPr marL="518158" lvl="1" indent="-259079" algn="l">
              <a:lnSpc>
                <a:spcPts val="3799"/>
              </a:lnSpc>
              <a:buFont typeface="Arial"/>
              <a:buChar char="•"/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Vernacular voice guidance to help users complete every step smoothly.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83652" y="5988265"/>
            <a:ext cx="431523" cy="391843"/>
            <a:chOff x="0" y="0"/>
            <a:chExt cx="588367" cy="588367"/>
          </a:xfrm>
          <a:solidFill>
            <a:schemeClr val="accent5">
              <a:lumMod val="50000"/>
            </a:schemeClr>
          </a:solidFill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26241" y="1917882"/>
            <a:ext cx="16136108" cy="476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8"/>
              </a:lnSpc>
              <a:spcBef>
                <a:spcPct val="0"/>
              </a:spcBef>
            </a:pPr>
            <a:r>
              <a:rPr lang="en-US" sz="288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app uses a simple, step-by-step AI-powered workflow to help users understand their health needs: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88904" y="252889"/>
            <a:ext cx="17694463" cy="9816869"/>
            <a:chOff x="0" y="0"/>
            <a:chExt cx="23694884" cy="1314589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3694903" cy="13145894"/>
            </a:xfrm>
            <a:custGeom>
              <a:avLst/>
              <a:gdLst/>
              <a:ahLst/>
              <a:cxnLst/>
              <a:rect l="l" t="t" r="r" b="b"/>
              <a:pathLst>
                <a:path w="23694903" h="13145894">
                  <a:moveTo>
                    <a:pt x="50653" y="0"/>
                  </a:moveTo>
                  <a:lnTo>
                    <a:pt x="23644248" y="0"/>
                  </a:lnTo>
                  <a:cubicBezTo>
                    <a:pt x="23672234" y="0"/>
                    <a:pt x="23694903" y="23829"/>
                    <a:pt x="23694903" y="53249"/>
                  </a:cubicBezTo>
                  <a:lnTo>
                    <a:pt x="23694903" y="13092644"/>
                  </a:lnTo>
                  <a:cubicBezTo>
                    <a:pt x="23694903" y="13122066"/>
                    <a:pt x="23672234" y="13145894"/>
                    <a:pt x="23644248" y="13145894"/>
                  </a:cubicBezTo>
                  <a:lnTo>
                    <a:pt x="50653" y="13145894"/>
                  </a:lnTo>
                  <a:cubicBezTo>
                    <a:pt x="22667" y="13145894"/>
                    <a:pt x="0" y="13122066"/>
                    <a:pt x="0" y="13092644"/>
                  </a:cubicBezTo>
                  <a:lnTo>
                    <a:pt x="0" y="53249"/>
                  </a:lnTo>
                  <a:cubicBezTo>
                    <a:pt x="0" y="23829"/>
                    <a:pt x="22667" y="0"/>
                    <a:pt x="50653" y="0"/>
                  </a:cubicBezTo>
                  <a:moveTo>
                    <a:pt x="50653" y="106498"/>
                  </a:moveTo>
                  <a:lnTo>
                    <a:pt x="50653" y="53249"/>
                  </a:lnTo>
                  <a:lnTo>
                    <a:pt x="101307" y="53249"/>
                  </a:lnTo>
                  <a:lnTo>
                    <a:pt x="101307" y="13092644"/>
                  </a:lnTo>
                  <a:lnTo>
                    <a:pt x="50653" y="13092644"/>
                  </a:lnTo>
                  <a:lnTo>
                    <a:pt x="50653" y="13039396"/>
                  </a:lnTo>
                  <a:lnTo>
                    <a:pt x="23644248" y="13039396"/>
                  </a:lnTo>
                  <a:lnTo>
                    <a:pt x="23644248" y="13092644"/>
                  </a:lnTo>
                  <a:lnTo>
                    <a:pt x="23593596" y="13092644"/>
                  </a:lnTo>
                  <a:lnTo>
                    <a:pt x="23593596" y="53249"/>
                  </a:lnTo>
                  <a:lnTo>
                    <a:pt x="23644248" y="53249"/>
                  </a:lnTo>
                  <a:lnTo>
                    <a:pt x="23644248" y="106498"/>
                  </a:lnTo>
                  <a:lnTo>
                    <a:pt x="50653" y="106498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D02C86E6-AA45-630F-62A9-C3E155D01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8885" y="2571748"/>
            <a:ext cx="8872540" cy="68334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B370B-8425-9DD9-7FF3-C5F356DEC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77858E-EBCA-CDA0-73C1-133AFF44C707}"/>
              </a:ext>
            </a:extLst>
          </p:cNvPr>
          <p:cNvSpPr/>
          <p:nvPr/>
        </p:nvSpPr>
        <p:spPr>
          <a:xfrm>
            <a:off x="1028700" y="359167"/>
            <a:ext cx="1050652" cy="1339066"/>
          </a:xfrm>
          <a:custGeom>
            <a:avLst/>
            <a:gdLst/>
            <a:ahLst/>
            <a:cxnLst/>
            <a:rect l="l" t="t" r="r" b="b"/>
            <a:pathLst>
              <a:path w="1050652" h="1339066">
                <a:moveTo>
                  <a:pt x="0" y="0"/>
                </a:moveTo>
                <a:lnTo>
                  <a:pt x="1050652" y="0"/>
                </a:lnTo>
                <a:lnTo>
                  <a:pt x="1050652" y="1339066"/>
                </a:lnTo>
                <a:lnTo>
                  <a:pt x="0" y="1339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E7965FC-70DC-409F-8A0B-F30D1E4B3A69}"/>
              </a:ext>
            </a:extLst>
          </p:cNvPr>
          <p:cNvSpPr/>
          <p:nvPr/>
        </p:nvSpPr>
        <p:spPr>
          <a:xfrm>
            <a:off x="714337" y="1873129"/>
            <a:ext cx="16913524" cy="2381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4A53040-E26F-CC4E-8535-C5A8853DEDA5}"/>
              </a:ext>
            </a:extLst>
          </p:cNvPr>
          <p:cNvSpPr txBox="1"/>
          <p:nvPr/>
        </p:nvSpPr>
        <p:spPr>
          <a:xfrm>
            <a:off x="5774957" y="708570"/>
            <a:ext cx="7255243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25"/>
              </a:lnSpc>
            </a:pPr>
            <a:r>
              <a:rPr lang="en-US" sz="5932" b="1" spc="-59" dirty="0">
                <a:solidFill>
                  <a:srgbClr val="0D47A1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0DD776A-4388-BC92-A9C4-24A0CD5F46FB}"/>
              </a:ext>
            </a:extLst>
          </p:cNvPr>
          <p:cNvSpPr txBox="1"/>
          <p:nvPr/>
        </p:nvSpPr>
        <p:spPr>
          <a:xfrm>
            <a:off x="17526420" y="96422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757575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4FE1D30-318E-33D6-BD92-DDA712F56A34}"/>
              </a:ext>
            </a:extLst>
          </p:cNvPr>
          <p:cNvSpPr txBox="1"/>
          <p:nvPr/>
        </p:nvSpPr>
        <p:spPr>
          <a:xfrm>
            <a:off x="1001661" y="2499762"/>
            <a:ext cx="15767570" cy="194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799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Elderly people with less tech exposer.</a:t>
            </a:r>
          </a:p>
          <a:p>
            <a:pPr marL="342900" indent="-342900" algn="l">
              <a:lnSpc>
                <a:spcPts val="3799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Young Students with professional background</a:t>
            </a:r>
          </a:p>
          <a:p>
            <a:pPr marL="342900" indent="-342900" algn="l">
              <a:lnSpc>
                <a:spcPts val="3799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Rural women &amp; farmers get benefits</a:t>
            </a:r>
          </a:p>
          <a:p>
            <a:pPr marL="342900" indent="-342900" algn="l">
              <a:lnSpc>
                <a:spcPts val="3799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Economically weaker section gets updates on relevant schemes.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250064A-7F03-79C5-B5EC-3AF86DDA56E8}"/>
              </a:ext>
            </a:extLst>
          </p:cNvPr>
          <p:cNvSpPr txBox="1"/>
          <p:nvPr/>
        </p:nvSpPr>
        <p:spPr>
          <a:xfrm>
            <a:off x="-2073824" y="4693161"/>
            <a:ext cx="7848781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References: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3EDE9B9-87A9-3D31-03ED-9C30B2E26AE4}"/>
              </a:ext>
            </a:extLst>
          </p:cNvPr>
          <p:cNvSpPr txBox="1"/>
          <p:nvPr/>
        </p:nvSpPr>
        <p:spPr>
          <a:xfrm>
            <a:off x="323860" y="1918219"/>
            <a:ext cx="17694476" cy="433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8"/>
              </a:lnSpc>
              <a:spcBef>
                <a:spcPct val="0"/>
              </a:spcBef>
            </a:pPr>
            <a:r>
              <a:rPr lang="en-US" sz="288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app uses a simple, step-by-step AI-powered workflow to help users understand relevant schemes for them:</a:t>
            </a:r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1C4428DC-0674-DE58-750C-A93CA69E8340}"/>
              </a:ext>
            </a:extLst>
          </p:cNvPr>
          <p:cNvGrpSpPr/>
          <p:nvPr/>
        </p:nvGrpSpPr>
        <p:grpSpPr>
          <a:xfrm>
            <a:off x="288904" y="252889"/>
            <a:ext cx="17694463" cy="9816869"/>
            <a:chOff x="0" y="0"/>
            <a:chExt cx="23694884" cy="13145896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8BB2E5D-EE09-15FD-EB79-40268AF06BC9}"/>
                </a:ext>
              </a:extLst>
            </p:cNvPr>
            <p:cNvSpPr/>
            <p:nvPr/>
          </p:nvSpPr>
          <p:spPr>
            <a:xfrm>
              <a:off x="0" y="0"/>
              <a:ext cx="23694903" cy="13145894"/>
            </a:xfrm>
            <a:custGeom>
              <a:avLst/>
              <a:gdLst/>
              <a:ahLst/>
              <a:cxnLst/>
              <a:rect l="l" t="t" r="r" b="b"/>
              <a:pathLst>
                <a:path w="23694903" h="13145894">
                  <a:moveTo>
                    <a:pt x="50653" y="0"/>
                  </a:moveTo>
                  <a:lnTo>
                    <a:pt x="23644248" y="0"/>
                  </a:lnTo>
                  <a:cubicBezTo>
                    <a:pt x="23672234" y="0"/>
                    <a:pt x="23694903" y="23829"/>
                    <a:pt x="23694903" y="53249"/>
                  </a:cubicBezTo>
                  <a:lnTo>
                    <a:pt x="23694903" y="13092644"/>
                  </a:lnTo>
                  <a:cubicBezTo>
                    <a:pt x="23694903" y="13122066"/>
                    <a:pt x="23672234" y="13145894"/>
                    <a:pt x="23644248" y="13145894"/>
                  </a:cubicBezTo>
                  <a:lnTo>
                    <a:pt x="50653" y="13145894"/>
                  </a:lnTo>
                  <a:cubicBezTo>
                    <a:pt x="22667" y="13145894"/>
                    <a:pt x="0" y="13122066"/>
                    <a:pt x="0" y="13092644"/>
                  </a:cubicBezTo>
                  <a:lnTo>
                    <a:pt x="0" y="53249"/>
                  </a:lnTo>
                  <a:cubicBezTo>
                    <a:pt x="0" y="23829"/>
                    <a:pt x="22667" y="0"/>
                    <a:pt x="50653" y="0"/>
                  </a:cubicBezTo>
                  <a:moveTo>
                    <a:pt x="50653" y="106498"/>
                  </a:moveTo>
                  <a:lnTo>
                    <a:pt x="50653" y="53249"/>
                  </a:lnTo>
                  <a:lnTo>
                    <a:pt x="101307" y="53249"/>
                  </a:lnTo>
                  <a:lnTo>
                    <a:pt x="101307" y="13092644"/>
                  </a:lnTo>
                  <a:lnTo>
                    <a:pt x="50653" y="13092644"/>
                  </a:lnTo>
                  <a:lnTo>
                    <a:pt x="50653" y="13039396"/>
                  </a:lnTo>
                  <a:lnTo>
                    <a:pt x="23644248" y="13039396"/>
                  </a:lnTo>
                  <a:lnTo>
                    <a:pt x="23644248" y="13092644"/>
                  </a:lnTo>
                  <a:lnTo>
                    <a:pt x="23593596" y="13092644"/>
                  </a:lnTo>
                  <a:lnTo>
                    <a:pt x="23593596" y="53249"/>
                  </a:lnTo>
                  <a:lnTo>
                    <a:pt x="23644248" y="53249"/>
                  </a:lnTo>
                  <a:lnTo>
                    <a:pt x="23644248" y="106498"/>
                  </a:lnTo>
                  <a:lnTo>
                    <a:pt x="50653" y="106498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DF22E3D-CF8D-CB85-6401-F7C95BD75A73}"/>
              </a:ext>
            </a:extLst>
          </p:cNvPr>
          <p:cNvSpPr txBox="1"/>
          <p:nvPr/>
        </p:nvSpPr>
        <p:spPr>
          <a:xfrm>
            <a:off x="1001661" y="5321538"/>
            <a:ext cx="16904646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ts val="3799"/>
              </a:lnSpc>
              <a:buAutoNum type="arabicPeriod"/>
            </a:pPr>
            <a:r>
              <a:rPr lang="en-US" sz="3200" b="1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Open Government Data Platform India (OGD)- </a:t>
            </a:r>
            <a:r>
              <a:rPr lang="en-US" sz="32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  <a:hlinkClick r:id="rId4"/>
              </a:rPr>
              <a:t>https://data.gov.in</a:t>
            </a:r>
            <a:r>
              <a:rPr lang="en-US" sz="32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 </a:t>
            </a:r>
          </a:p>
          <a:p>
            <a:pPr marL="514350" indent="-514350">
              <a:lnSpc>
                <a:spcPts val="3799"/>
              </a:lnSpc>
              <a:buAutoNum type="arabicPeriod"/>
            </a:pPr>
            <a:r>
              <a:rPr lang="en-US" sz="3200" b="1" dirty="0" err="1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MyScheme</a:t>
            </a:r>
            <a:r>
              <a:rPr lang="en-US" sz="3200" b="1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 –</a:t>
            </a:r>
            <a:r>
              <a:rPr lang="en-US" sz="32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for browsing, filtering, and checking eligibility </a:t>
            </a:r>
            <a:r>
              <a:rPr lang="en-US" sz="32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  <a:hlinkClick r:id="rId5"/>
              </a:rPr>
              <a:t>https://www.myscheme.gov.in</a:t>
            </a:r>
            <a:endParaRPr lang="en-US" sz="3200" dirty="0">
              <a:solidFill>
                <a:srgbClr val="272525"/>
              </a:solidFill>
              <a:latin typeface="Times New Roman"/>
              <a:cs typeface="Times New Roman"/>
              <a:sym typeface="Times New Roman"/>
            </a:endParaRPr>
          </a:p>
          <a:p>
            <a:pPr marL="514350" indent="-514350">
              <a:lnSpc>
                <a:spcPts val="3799"/>
              </a:lnSpc>
              <a:buAutoNum type="arabicPeriod"/>
            </a:pPr>
            <a:r>
              <a:rPr lang="en-US" sz="3200" b="1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Google Research – </a:t>
            </a:r>
            <a:r>
              <a:rPr lang="en-US" sz="32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Speech &amp; Language Team Research on speech-to-text, multilingual NLP, and voice-based interaction models relevant to vernacular voice search. </a:t>
            </a:r>
            <a:r>
              <a:rPr lang="en-US" sz="32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  <a:hlinkClick r:id="rId6"/>
              </a:rPr>
              <a:t>https://research.google/teams/language</a:t>
            </a:r>
            <a:endParaRPr lang="en-US" sz="3200" dirty="0">
              <a:solidFill>
                <a:srgbClr val="272525"/>
              </a:solidFill>
              <a:latin typeface="Times New Roman"/>
              <a:cs typeface="Times New Roman"/>
              <a:sym typeface="Times New Roman"/>
            </a:endParaRPr>
          </a:p>
          <a:p>
            <a:pPr marL="514350" indent="-514350">
              <a:lnSpc>
                <a:spcPts val="3799"/>
              </a:lnSpc>
              <a:buAutoNum type="arabicPeriod"/>
            </a:pPr>
            <a:r>
              <a:rPr lang="en-US" sz="3200" b="1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Whimsical – </a:t>
            </a:r>
            <a:r>
              <a:rPr lang="en-US" sz="32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Flowchart &amp; Diagram Tool for the project. </a:t>
            </a:r>
            <a:r>
              <a:rPr lang="en-US" sz="32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  <a:hlinkClick r:id="rId7"/>
              </a:rPr>
              <a:t>https://whimsical.com</a:t>
            </a:r>
            <a:r>
              <a:rPr lang="en-US" sz="32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 </a:t>
            </a:r>
          </a:p>
          <a:p>
            <a:pPr marL="514350" indent="-514350">
              <a:lnSpc>
                <a:spcPts val="3799"/>
              </a:lnSpc>
              <a:buAutoNum type="arabicPeriod"/>
            </a:pPr>
            <a:r>
              <a:rPr lang="en-US" sz="3200" b="1" dirty="0" err="1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LLaMA</a:t>
            </a:r>
            <a:r>
              <a:rPr lang="en-US" sz="3200" b="1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 3.1 – </a:t>
            </a:r>
            <a:r>
              <a:rPr lang="en-US" sz="32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Large Language Model Reference architecture for the AI/LLM component used in scheme matching and Q&amp;A. </a:t>
            </a:r>
            <a:r>
              <a:rPr lang="en-US" sz="32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  <a:hlinkClick r:id="rId8"/>
              </a:rPr>
              <a:t>https://ai.meta.com/llama</a:t>
            </a:r>
            <a:r>
              <a:rPr lang="en-US" sz="32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 </a:t>
            </a:r>
          </a:p>
          <a:p>
            <a:pPr algn="r">
              <a:lnSpc>
                <a:spcPts val="3799"/>
              </a:lnSpc>
            </a:pPr>
            <a:r>
              <a:rPr lang="en-US" sz="32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Thankyou.</a:t>
            </a:r>
          </a:p>
          <a:p>
            <a:pPr>
              <a:lnSpc>
                <a:spcPts val="3799"/>
              </a:lnSpc>
            </a:pPr>
            <a:endParaRPr lang="en-US" sz="3200" dirty="0">
              <a:solidFill>
                <a:srgbClr val="272525"/>
              </a:solidFill>
              <a:latin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0101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</TotalTime>
  <Words>496</Words>
  <Application>Microsoft Office PowerPoint</Application>
  <PresentationFormat>Custom</PresentationFormat>
  <Paragraphs>61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Times New Roman Bold</vt:lpstr>
      <vt:lpstr>Times New Roman</vt:lpstr>
      <vt:lpstr>Times New Roman Italics</vt:lpstr>
      <vt:lpstr>Aptos Display</vt:lpstr>
      <vt:lpstr>Telegraf Bold</vt:lpstr>
      <vt:lpstr>Aptos</vt:lpstr>
      <vt:lpstr>Arial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Healthcare &amp; Wellbeing</dc:title>
  <dc:creator>Sanidhya Suman</dc:creator>
  <dc:description>Presentation - Healthcare &amp; Wellbeing</dc:description>
  <cp:lastModifiedBy>shyamjyoti sarkar</cp:lastModifiedBy>
  <cp:revision>6</cp:revision>
  <dcterms:created xsi:type="dcterms:W3CDTF">2006-08-16T00:00:00Z</dcterms:created>
  <dcterms:modified xsi:type="dcterms:W3CDTF">2025-11-20T07:36:48Z</dcterms:modified>
  <dc:identifier>DAG5G8JPgxg</dc:identifier>
</cp:coreProperties>
</file>